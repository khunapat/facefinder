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6.png"/><Relationship Id="rId7"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endParaRPr sz="1800">
              <a:latin typeface="Google Sans Flex"/>
              <a:ea typeface="Google Sans Flex"/>
              <a:cs typeface="Google Sans Flex"/>
              <a:sym typeface="Google Sans Flex"/>
            </a:endParaRPr>
            <a:r>
              <a:rPr lang="en-GB" sz="1800">
                <a:solidFill>
                  <a:srgbClr val="C01E1E"/>
                </a:solidFill>
                <a:latin typeface="Google Sans Flex"/>
                <a:ea typeface="Google Sans Flex"/>
                <a:cs typeface="Google Sans Flex"/>
                <a:sym typeface="Google Sans Flex"/>
              </a:rPr>
              <a:t> [TEAM NAME]</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endParaRPr sz="1800">
              <a:latin typeface="Google Sans Flex"/>
              <a:ea typeface="Google Sans Flex"/>
              <a:cs typeface="Google Sans Flex"/>
              <a:sym typeface="Google Sans Flex"/>
            </a:endParaRPr>
            <a:r>
              <a:rPr lang="en-GB" sz="1800">
                <a:solidFill>
                  <a:srgbClr val="1F2540"/>
                </a:solidFill>
                <a:latin typeface="Google Sans Flex"/>
                <a:ea typeface="Google Sans Flex"/>
                <a:cs typeface="Google Sans Flex"/>
                <a:sym typeface="Google Sans Flex"/>
              </a:rPr>
              <a:t> Khunapat Prapassornchaikul</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endParaRPr sz="1800">
              <a:latin typeface="Google Sans Flex"/>
              <a:ea typeface="Google Sans Flex"/>
              <a:cs typeface="Google Sans Flex"/>
              <a:sym typeface="Google Sans Flex"/>
            </a:endParaRPr>
            <a:r>
              <a:rPr lang="en-GB" sz="1800">
                <a:solidFill>
                  <a:srgbClr val="1F2540"/>
                </a:solidFill>
                <a:latin typeface="Google Sans Flex"/>
                <a:ea typeface="Google Sans Flex"/>
                <a:cs typeface="Google Sans Flex"/>
                <a:sym typeface="Google Sans Flex"/>
              </a:rPr>
              <a:t> Media, Content &amp; Digital Experiences. FaceFinder turns one shared Google Drive event album into one folder per person, with Gemini picking and sorting the best photos.</a:t>
            </a: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Brief text"/>
          <p:cNvSpPr txBox="1"/>
          <p:nvPr/>
        </p:nvSpPr>
        <p:spPr>
          <a:xfrm>
            <a:off x="411480" y="1280160"/>
            <a:ext cx="4343400" cy="3566160"/>
          </a:xfrm>
          <a:prstGeom prst="rect">
            <a:avLst/>
          </a:prstGeom>
          <a:noFill/>
        </p:spPr>
        <p:txBody>
          <a:bodyPr wrap="square" anchor="t" lIns="0" rIns="0" tIns="0" bIns="0">
            <a:spAutoFit/>
          </a:bodyPr>
          <a:lstStyle/>
          <a:p>
            <a:pPr algn="l">
              <a:spcAft>
                <a:spcPts val="200"/>
              </a:spcAft>
            </a:pPr>
            <a:r>
              <a:rPr sz="1300" b="1">
                <a:solidFill>
                  <a:srgbClr val="D6336C"/>
                </a:solidFill>
                <a:latin typeface="Arial"/>
              </a:rPr>
              <a:t>The problem</a:t>
            </a:r>
          </a:p>
          <a:p>
            <a:pPr algn="l">
              <a:spcAft>
                <a:spcPts val="1000"/>
              </a:spcAft>
            </a:pPr>
            <a:r>
              <a:rPr sz="1200" b="0">
                <a:solidFill>
                  <a:srgbClr val="1F2540"/>
                </a:solidFill>
                <a:latin typeface="Arial"/>
              </a:rPr>
              <a:t>After a graduation, wedding or company event, the photographer shares one Google Drive folder with hundreds of photos. Finding yourself, or sending each friend their photos, means an hour of scrolling, and the photographer still culls blurry and eyes-closed shots by hand.</a:t>
            </a:r>
          </a:p>
          <a:p>
            <a:pPr algn="l">
              <a:spcAft>
                <a:spcPts val="200"/>
              </a:spcAft>
            </a:pPr>
            <a:r>
              <a:rPr sz="1300" b="1">
                <a:solidFill>
                  <a:srgbClr val="D6336C"/>
                </a:solidFill>
                <a:latin typeface="Arial"/>
              </a:rPr>
              <a:t>FaceFinder</a:t>
            </a:r>
          </a:p>
          <a:p>
            <a:pPr algn="l">
              <a:spcAft>
                <a:spcPts val="400"/>
              </a:spcAft>
            </a:pPr>
            <a:r>
              <a:rPr sz="1200" b="0">
                <a:solidFill>
                  <a:srgbClr val="1F2540"/>
                </a:solidFill>
                <a:latin typeface="Arial"/>
              </a:rPr>
              <a:t>Paste the folder link and FaceFinder scans the album once. A face-recognition model groups every face into people; Gemini on Vertex AI judges each photo and describes it. Anyone can then find a person, keep the best shots, sort by plain-word descriptions, and copy one folder per person into their own Drive. The original album is never changed.</a:t>
            </a:r>
          </a:p>
        </p:txBody>
      </p:sp>
      <p:pic>
        <p:nvPicPr>
          <p:cNvPr id="73" name="Live app screenshot" descr="everyone_live.png"/>
          <p:cNvPicPr>
            <a:picLocks noChangeAspect="1"/>
          </p:cNvPicPr>
          <p:nvPr/>
        </p:nvPicPr>
        <p:blipFill>
          <a:blip r:embed="rId4"/>
          <a:stretch>
            <a:fillRect/>
          </a:stretch>
        </p:blipFill>
        <p:spPr>
          <a:xfrm>
            <a:off x="4983480" y="1371600"/>
            <a:ext cx="3749039" cy="2145461"/>
          </a:xfrm>
          <a:prstGeom prst="rect">
            <a:avLst/>
          </a:prstGeom>
        </p:spPr>
      </p:pic>
      <p:sp>
        <p:nvSpPr>
          <p:cNvPr id="74" name="Screenshot caption"/>
          <p:cNvSpPr txBox="1"/>
          <p:nvPr/>
        </p:nvSpPr>
        <p:spPr>
          <a:xfrm>
            <a:off x="4983480" y="3590213"/>
            <a:ext cx="3749039" cy="45720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The live app on the demo album. The people are made up, created with Gemini.</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Card 1"/>
          <p:cNvSpPr/>
          <p:nvPr/>
        </p:nvSpPr>
        <p:spPr>
          <a:xfrm>
            <a:off x="411480" y="1325880"/>
            <a:ext cx="2651760" cy="32461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ard 1 text"/>
          <p:cNvSpPr txBox="1"/>
          <p:nvPr/>
        </p:nvSpPr>
        <p:spPr>
          <a:xfrm>
            <a:off x="594360" y="1508760"/>
            <a:ext cx="2286000" cy="2926080"/>
          </a:xfrm>
          <a:prstGeom prst="rect">
            <a:avLst/>
          </a:prstGeom>
          <a:noFill/>
        </p:spPr>
        <p:txBody>
          <a:bodyPr wrap="square" anchor="t" lIns="0" rIns="0" tIns="0" bIns="0">
            <a:spAutoFit/>
          </a:bodyPr>
          <a:lstStyle/>
          <a:p>
            <a:pPr algn="l">
              <a:spcAft>
                <a:spcPts val="1000"/>
              </a:spcAft>
            </a:pPr>
            <a:r>
              <a:rPr sz="1500" b="1">
                <a:solidFill>
                  <a:srgbClr val="D6336C"/>
                </a:solidFill>
                <a:latin typeface="Arial"/>
              </a:rPr>
              <a:t>How is it different?</a:t>
            </a:r>
          </a:p>
          <a:p>
            <a:pPr algn="l">
              <a:spcAft>
                <a:spcPts val="400"/>
              </a:spcAft>
            </a:pPr>
            <a:r>
              <a:rPr sz="1300" b="0">
                <a:solidFill>
                  <a:srgbClr val="1F2540"/>
                </a:solidFill>
                <a:latin typeface="Arial"/>
              </a:rPr>
              <a:t>Google Photos groups faces only inside one person's own library. Event photos usually live in one shared Drive folder, with no face search and no culling. FaceFinder works on any shared Drive folder, for everyone who can open it, and gives back real Drive folders.</a:t>
            </a:r>
          </a:p>
        </p:txBody>
      </p:sp>
      <p:sp>
        <p:nvSpPr>
          <p:cNvPr id="82" name="Card 2"/>
          <p:cNvSpPr/>
          <p:nvPr/>
        </p:nvSpPr>
        <p:spPr>
          <a:xfrm>
            <a:off x="3246120" y="1325880"/>
            <a:ext cx="2651760" cy="32461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ard 2 text"/>
          <p:cNvSpPr txBox="1"/>
          <p:nvPr/>
        </p:nvSpPr>
        <p:spPr>
          <a:xfrm>
            <a:off x="3429000" y="1508760"/>
            <a:ext cx="2286000" cy="2926080"/>
          </a:xfrm>
          <a:prstGeom prst="rect">
            <a:avLst/>
          </a:prstGeom>
          <a:noFill/>
        </p:spPr>
        <p:txBody>
          <a:bodyPr wrap="square" anchor="t" lIns="0" rIns="0" tIns="0" bIns="0">
            <a:spAutoFit/>
          </a:bodyPr>
          <a:lstStyle/>
          <a:p>
            <a:pPr algn="l">
              <a:spcAft>
                <a:spcPts val="1000"/>
              </a:spcAft>
            </a:pPr>
            <a:r>
              <a:rPr sz="1500" b="1">
                <a:solidFill>
                  <a:srgbClr val="D6336C"/>
                </a:solidFill>
                <a:latin typeface="Arial"/>
              </a:rPr>
              <a:t>How does it solve the problem?</a:t>
            </a:r>
          </a:p>
          <a:p>
            <a:pPr algn="l">
              <a:spcAft>
                <a:spcPts val="400"/>
              </a:spcAft>
            </a:pPr>
            <a:r>
              <a:rPr sz="1300" b="0">
                <a:solidFill>
                  <a:srgbClr val="1F2540"/>
                </a:solidFill>
                <a:latin typeface="Arial"/>
              </a:rPr>
              <a:t>One scan per album. Then name a face or upload one selfie to get that person's photos. Gemini suggests Keep, Review or Rejected with a reason for each photo, and sorts the album by a plain-word description. One click copies it all into folders in your Drive.</a:t>
            </a:r>
          </a:p>
        </p:txBody>
      </p:sp>
      <p:sp>
        <p:nvSpPr>
          <p:cNvPr id="84" name="Card 3"/>
          <p:cNvSpPr/>
          <p:nvPr/>
        </p:nvSpPr>
        <p:spPr>
          <a:xfrm>
            <a:off x="6080760" y="1325880"/>
            <a:ext cx="2651760" cy="32461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ard 3 text"/>
          <p:cNvSpPr txBox="1"/>
          <p:nvPr/>
        </p:nvSpPr>
        <p:spPr>
          <a:xfrm>
            <a:off x="6263640" y="1508760"/>
            <a:ext cx="2286000" cy="2926080"/>
          </a:xfrm>
          <a:prstGeom prst="rect">
            <a:avLst/>
          </a:prstGeom>
          <a:noFill/>
        </p:spPr>
        <p:txBody>
          <a:bodyPr wrap="square" anchor="t" lIns="0" rIns="0" tIns="0" bIns="0">
            <a:spAutoFit/>
          </a:bodyPr>
          <a:lstStyle/>
          <a:p>
            <a:pPr algn="l">
              <a:spcAft>
                <a:spcPts val="1000"/>
              </a:spcAft>
            </a:pPr>
            <a:r>
              <a:rPr sz="1500" b="1">
                <a:solidFill>
                  <a:srgbClr val="D6336C"/>
                </a:solidFill>
                <a:latin typeface="Arial"/>
              </a:rPr>
              <a:t>USP</a:t>
            </a:r>
          </a:p>
          <a:p>
            <a:pPr algn="l">
              <a:spcAft>
                <a:spcPts val="400"/>
              </a:spcAft>
            </a:pPr>
            <a:r>
              <a:rPr sz="1300" b="0">
                <a:solidFill>
                  <a:srgbClr val="1F2540"/>
                </a:solidFill>
                <a:latin typeface="Arial"/>
              </a:rPr>
              <a:t>Two AIs, each doing what it does best: a face model decides who is in a photo, Gemini decides how good it is and what is in it. Copy-only and privacy-first: no photos stored, data deletable at any time. Works on a phone, nothing to install.</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1"/>
          <p:cNvSpPr/>
          <p:nvPr/>
        </p:nvSpPr>
        <p:spPr>
          <a:xfrm>
            <a:off x="411480" y="132588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9" name="Feature 1 icon" descr="cam-wave.png"/>
          <p:cNvPicPr>
            <a:picLocks noChangeAspect="1"/>
          </p:cNvPicPr>
          <p:nvPr/>
        </p:nvPicPr>
        <p:blipFill>
          <a:blip r:embed="rId5"/>
          <a:stretch>
            <a:fillRect/>
          </a:stretch>
        </p:blipFill>
        <p:spPr>
          <a:xfrm>
            <a:off x="548640" y="1508760"/>
            <a:ext cx="640080" cy="640080"/>
          </a:xfrm>
          <a:prstGeom prst="rect">
            <a:avLst/>
          </a:prstGeom>
        </p:spPr>
      </p:pic>
      <p:sp>
        <p:nvSpPr>
          <p:cNvPr id="90" name="Feature 1 text"/>
          <p:cNvSpPr txBox="1"/>
          <p:nvPr/>
        </p:nvSpPr>
        <p:spPr>
          <a:xfrm>
            <a:off x="1280160" y="149047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Everyone</a:t>
            </a:r>
          </a:p>
          <a:p>
            <a:pPr algn="l">
              <a:spcAft>
                <a:spcPts val="400"/>
              </a:spcAft>
            </a:pPr>
            <a:r>
              <a:rPr sz="1100" b="0">
                <a:solidFill>
                  <a:srgbClr val="1F2540"/>
                </a:solidFill>
                <a:latin typeface="Arial"/>
              </a:rPr>
              <a:t>Every face grouped into people. Type a name to make that person's folder.</a:t>
            </a:r>
          </a:p>
        </p:txBody>
      </p:sp>
      <p:sp>
        <p:nvSpPr>
          <p:cNvPr id="91" name="Feature 2"/>
          <p:cNvSpPr/>
          <p:nvPr/>
        </p:nvSpPr>
        <p:spPr>
          <a:xfrm>
            <a:off x="3246120" y="132588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Feature 2 icon" descr="cam-search.png"/>
          <p:cNvPicPr>
            <a:picLocks noChangeAspect="1"/>
          </p:cNvPicPr>
          <p:nvPr/>
        </p:nvPicPr>
        <p:blipFill>
          <a:blip r:embed="rId6"/>
          <a:stretch>
            <a:fillRect/>
          </a:stretch>
        </p:blipFill>
        <p:spPr>
          <a:xfrm>
            <a:off x="3383280" y="1508760"/>
            <a:ext cx="640080" cy="640080"/>
          </a:xfrm>
          <a:prstGeom prst="rect">
            <a:avLst/>
          </a:prstGeom>
        </p:spPr>
      </p:pic>
      <p:sp>
        <p:nvSpPr>
          <p:cNvPr id="93" name="Feature 2 text"/>
          <p:cNvSpPr txBox="1"/>
          <p:nvPr/>
        </p:nvSpPr>
        <p:spPr>
          <a:xfrm>
            <a:off x="4114800" y="149047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Find people + Best 10</a:t>
            </a:r>
          </a:p>
          <a:p>
            <a:pPr algn="l">
              <a:spcAft>
                <a:spcPts val="400"/>
              </a:spcAft>
            </a:pPr>
            <a:r>
              <a:rPr sz="1100" b="0">
                <a:solidFill>
                  <a:srgbClr val="1F2540"/>
                </a:solidFill>
                <a:latin typeface="Arial"/>
              </a:rPr>
              <a:t>One selfie finds a person. Best 10 picks their best shots, each with Gemini's reason.</a:t>
            </a:r>
          </a:p>
        </p:txBody>
      </p:sp>
      <p:sp>
        <p:nvSpPr>
          <p:cNvPr id="94" name="Feature 3"/>
          <p:cNvSpPr/>
          <p:nvPr/>
        </p:nvSpPr>
        <p:spPr>
          <a:xfrm>
            <a:off x="6080760" y="132588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Feature 3 icon" descr="cam-photo.png"/>
          <p:cNvPicPr>
            <a:picLocks noChangeAspect="1"/>
          </p:cNvPicPr>
          <p:nvPr/>
        </p:nvPicPr>
        <p:blipFill>
          <a:blip r:embed="rId7"/>
          <a:stretch>
            <a:fillRect/>
          </a:stretch>
        </p:blipFill>
        <p:spPr>
          <a:xfrm>
            <a:off x="6217920" y="1508760"/>
            <a:ext cx="640080" cy="640080"/>
          </a:xfrm>
          <a:prstGeom prst="rect">
            <a:avLst/>
          </a:prstGeom>
        </p:spPr>
      </p:pic>
      <p:sp>
        <p:nvSpPr>
          <p:cNvPr id="96" name="Feature 3 text"/>
          <p:cNvSpPr txBox="1"/>
          <p:nvPr/>
        </p:nvSpPr>
        <p:spPr>
          <a:xfrm>
            <a:off x="6949440" y="149047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Cull photos</a:t>
            </a:r>
          </a:p>
          <a:p>
            <a:pPr algn="l">
              <a:spcAft>
                <a:spcPts val="400"/>
              </a:spcAft>
            </a:pPr>
            <a:r>
              <a:rPr sz="1100" b="0">
                <a:solidFill>
                  <a:srgbClr val="1F2540"/>
                </a:solidFill>
                <a:latin typeface="Arial"/>
              </a:rPr>
              <a:t>Keep, Review or Rejected, with reasons: blur, eyes closed, weaker shots of a burst.</a:t>
            </a:r>
          </a:p>
        </p:txBody>
      </p:sp>
      <p:sp>
        <p:nvSpPr>
          <p:cNvPr id="97" name="Feature 4"/>
          <p:cNvSpPr/>
          <p:nvPr/>
        </p:nvSpPr>
        <p:spPr>
          <a:xfrm>
            <a:off x="411480" y="310896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8" name="Feature 4 icon" descr="cam-point.png"/>
          <p:cNvPicPr>
            <a:picLocks noChangeAspect="1"/>
          </p:cNvPicPr>
          <p:nvPr/>
        </p:nvPicPr>
        <p:blipFill>
          <a:blip r:embed="rId8"/>
          <a:stretch>
            <a:fillRect/>
          </a:stretch>
        </p:blipFill>
        <p:spPr>
          <a:xfrm>
            <a:off x="548640" y="3291840"/>
            <a:ext cx="640080" cy="640080"/>
          </a:xfrm>
          <a:prstGeom prst="rect">
            <a:avLst/>
          </a:prstGeom>
        </p:spPr>
      </p:pic>
      <p:sp>
        <p:nvSpPr>
          <p:cNvPr id="99" name="Feature 4 text"/>
          <p:cNvSpPr txBox="1"/>
          <p:nvPr/>
        </p:nvSpPr>
        <p:spPr>
          <a:xfrm>
            <a:off x="1280160" y="327355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Sort by description</a:t>
            </a:r>
          </a:p>
          <a:p>
            <a:pPr algn="l">
              <a:spcAft>
                <a:spcPts val="400"/>
              </a:spcAft>
            </a:pPr>
            <a:r>
              <a:rPr sz="1100" b="0">
                <a:solidFill>
                  <a:srgbClr val="1F2540"/>
                </a:solidFill>
                <a:latin typeface="Arial"/>
              </a:rPr>
              <a:t>Describe a folder in plain words ("throwing caps"). Gemini fills it and suggests folders.</a:t>
            </a:r>
          </a:p>
        </p:txBody>
      </p:sp>
      <p:sp>
        <p:nvSpPr>
          <p:cNvPr id="100" name="Feature 5"/>
          <p:cNvSpPr/>
          <p:nvPr/>
        </p:nvSpPr>
        <p:spPr>
          <a:xfrm>
            <a:off x="3246120" y="310896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Feature 5 icon" descr="cam-celebrate.png"/>
          <p:cNvPicPr>
            <a:picLocks noChangeAspect="1"/>
          </p:cNvPicPr>
          <p:nvPr/>
        </p:nvPicPr>
        <p:blipFill>
          <a:blip r:embed="rId9"/>
          <a:stretch>
            <a:fillRect/>
          </a:stretch>
        </p:blipFill>
        <p:spPr>
          <a:xfrm>
            <a:off x="3383280" y="3291840"/>
            <a:ext cx="640080" cy="640080"/>
          </a:xfrm>
          <a:prstGeom prst="rect">
            <a:avLst/>
          </a:prstGeom>
        </p:spPr>
      </p:pic>
      <p:sp>
        <p:nvSpPr>
          <p:cNvPr id="102" name="Feature 5 text"/>
          <p:cNvSpPr txBox="1"/>
          <p:nvPr/>
        </p:nvSpPr>
        <p:spPr>
          <a:xfrm>
            <a:off x="4114800" y="327355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Export to Drive</a:t>
            </a:r>
          </a:p>
          <a:p>
            <a:pPr algn="l">
              <a:spcAft>
                <a:spcPts val="400"/>
              </a:spcAft>
            </a:pPr>
            <a:r>
              <a:rPr sz="1100" b="0">
                <a:solidFill>
                  <a:srgbClr val="1F2540"/>
                </a:solidFill>
                <a:latin typeface="Arial"/>
              </a:rPr>
              <a:t>One folder per person in your own Drive. Copies are made inside Google; never duplicated.</a:t>
            </a:r>
          </a:p>
        </p:txBody>
      </p:sp>
      <p:sp>
        <p:nvSpPr>
          <p:cNvPr id="103" name="Feature 6"/>
          <p:cNvSpPr/>
          <p:nvPr/>
        </p:nvSpPr>
        <p:spPr>
          <a:xfrm>
            <a:off x="6080760" y="310896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Feature 6 icon" descr="cam-stand.png"/>
          <p:cNvPicPr>
            <a:picLocks noChangeAspect="1"/>
          </p:cNvPicPr>
          <p:nvPr/>
        </p:nvPicPr>
        <p:blipFill>
          <a:blip r:embed="rId10"/>
          <a:stretch>
            <a:fillRect/>
          </a:stretch>
        </p:blipFill>
        <p:spPr>
          <a:xfrm>
            <a:off x="6217920" y="3291840"/>
            <a:ext cx="640080" cy="640080"/>
          </a:xfrm>
          <a:prstGeom prst="rect">
            <a:avLst/>
          </a:prstGeom>
        </p:spPr>
      </p:pic>
      <p:sp>
        <p:nvSpPr>
          <p:cNvPr id="105" name="Feature 6 text"/>
          <p:cNvSpPr txBox="1"/>
          <p:nvPr/>
        </p:nvSpPr>
        <p:spPr>
          <a:xfrm>
            <a:off x="6949440" y="327355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Control and privacy</a:t>
            </a:r>
          </a:p>
          <a:p>
            <a:pPr algn="l">
              <a:spcAft>
                <a:spcPts val="400"/>
              </a:spcAft>
            </a:pPr>
            <a:r>
              <a:rPr sz="1100" b="0">
                <a:solidFill>
                  <a:srgbClr val="1F2540"/>
                </a:solidFill>
                <a:latin typeface="Arial"/>
              </a:rPr>
              <a:t>Choose photos by day or by hand, stop and resume. See what is kept, delete it any time.</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Step 1"/>
          <p:cNvSpPr/>
          <p:nvPr/>
        </p:nvSpPr>
        <p:spPr>
          <a:xfrm>
            <a:off x="411480" y="132588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tep 1 number"/>
          <p:cNvSpPr/>
          <p:nvPr/>
        </p:nvSpPr>
        <p:spPr>
          <a:xfrm>
            <a:off x="548640" y="146303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98" name="Step 1 text"/>
          <p:cNvSpPr txBox="1"/>
          <p:nvPr/>
        </p:nvSpPr>
        <p:spPr>
          <a:xfrm>
            <a:off x="1051560" y="146303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Sign in with Google</a:t>
            </a:r>
          </a:p>
          <a:p>
            <a:pPr algn="l">
              <a:spcAft>
                <a:spcPts val="400"/>
              </a:spcAft>
            </a:pPr>
            <a:r>
              <a:rPr sz="1100" b="0">
                <a:solidFill>
                  <a:srgbClr val="5B6178"/>
                </a:solidFill>
                <a:latin typeface="Arial"/>
              </a:rPr>
              <a:t>Reads Drive with the user's own permission</a:t>
            </a:r>
          </a:p>
        </p:txBody>
      </p:sp>
      <p:sp>
        <p:nvSpPr>
          <p:cNvPr id="99" name="Step 2"/>
          <p:cNvSpPr/>
          <p:nvPr/>
        </p:nvSpPr>
        <p:spPr>
          <a:xfrm>
            <a:off x="3246120" y="132588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tep 2 number"/>
          <p:cNvSpPr/>
          <p:nvPr/>
        </p:nvSpPr>
        <p:spPr>
          <a:xfrm>
            <a:off x="3383279" y="146303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1" name="Step 2 text"/>
          <p:cNvSpPr txBox="1"/>
          <p:nvPr/>
        </p:nvSpPr>
        <p:spPr>
          <a:xfrm>
            <a:off x="3886200" y="146303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Paste a Drive folder link</a:t>
            </a:r>
          </a:p>
          <a:p>
            <a:pPr algn="l">
              <a:spcAft>
                <a:spcPts val="400"/>
              </a:spcAft>
            </a:pPr>
            <a:r>
              <a:rPr sz="1100" b="0">
                <a:solidFill>
                  <a:srgbClr val="5B6178"/>
                </a:solidFill>
                <a:latin typeface="Arial"/>
              </a:rPr>
              <a:t>Private folder? Clear help to request access</a:t>
            </a:r>
          </a:p>
        </p:txBody>
      </p:sp>
      <p:sp>
        <p:nvSpPr>
          <p:cNvPr id="102" name="Step 3"/>
          <p:cNvSpPr/>
          <p:nvPr/>
        </p:nvSpPr>
        <p:spPr>
          <a:xfrm>
            <a:off x="6080760" y="132588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tep 3 number"/>
          <p:cNvSpPr/>
          <p:nvPr/>
        </p:nvSpPr>
        <p:spPr>
          <a:xfrm>
            <a:off x="6217920" y="146303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04" name="Step 3 text"/>
          <p:cNvSpPr txBox="1"/>
          <p:nvPr/>
        </p:nvSpPr>
        <p:spPr>
          <a:xfrm>
            <a:off x="6720840" y="146303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Choose photos</a:t>
            </a:r>
          </a:p>
          <a:p>
            <a:pPr algn="l">
              <a:spcAft>
                <a:spcPts val="400"/>
              </a:spcAft>
            </a:pPr>
            <a:r>
              <a:rPr sz="1100" b="0">
                <a:solidFill>
                  <a:srgbClr val="5B6178"/>
                </a:solidFill>
                <a:latin typeface="Arial"/>
              </a:rPr>
              <a:t>All, by day, or by hand</a:t>
            </a:r>
          </a:p>
        </p:txBody>
      </p:sp>
      <p:sp>
        <p:nvSpPr>
          <p:cNvPr id="105" name="Step 4"/>
          <p:cNvSpPr/>
          <p:nvPr/>
        </p:nvSpPr>
        <p:spPr>
          <a:xfrm>
            <a:off x="6080760" y="301752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tep 4 number"/>
          <p:cNvSpPr/>
          <p:nvPr/>
        </p:nvSpPr>
        <p:spPr>
          <a:xfrm>
            <a:off x="6217920" y="315467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07" name="Step 4 text"/>
          <p:cNvSpPr txBox="1"/>
          <p:nvPr/>
        </p:nvSpPr>
        <p:spPr>
          <a:xfrm>
            <a:off x="6720840" y="315467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Scan once</a:t>
            </a:r>
          </a:p>
          <a:p>
            <a:pPr algn="l">
              <a:spcAft>
                <a:spcPts val="400"/>
              </a:spcAft>
            </a:pPr>
            <a:r>
              <a:rPr sz="1100" b="0">
                <a:solidFill>
                  <a:srgbClr val="5B6178"/>
                </a:solidFill>
                <a:latin typeface="Arial"/>
              </a:rPr>
              <a:t>InsightFace finds faces; Gemini writes one note per photo</a:t>
            </a:r>
          </a:p>
        </p:txBody>
      </p:sp>
      <p:sp>
        <p:nvSpPr>
          <p:cNvPr id="108" name="Step 5"/>
          <p:cNvSpPr/>
          <p:nvPr/>
        </p:nvSpPr>
        <p:spPr>
          <a:xfrm>
            <a:off x="3246120" y="301752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tep 5 number"/>
          <p:cNvSpPr/>
          <p:nvPr/>
        </p:nvSpPr>
        <p:spPr>
          <a:xfrm>
            <a:off x="3383279" y="315467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5</a:t>
            </a:r>
          </a:p>
        </p:txBody>
      </p:sp>
      <p:sp>
        <p:nvSpPr>
          <p:cNvPr id="110" name="Step 5 text"/>
          <p:cNvSpPr txBox="1"/>
          <p:nvPr/>
        </p:nvSpPr>
        <p:spPr>
          <a:xfrm>
            <a:off x="3886200" y="315467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Work on the album</a:t>
            </a:r>
          </a:p>
          <a:p>
            <a:pPr algn="l">
              <a:spcAft>
                <a:spcPts val="400"/>
              </a:spcAft>
            </a:pPr>
            <a:r>
              <a:rPr sz="1100" b="0">
                <a:solidFill>
                  <a:srgbClr val="5B6178"/>
                </a:solidFill>
                <a:latin typeface="Arial"/>
              </a:rPr>
              <a:t>Everyone, Find people, Cull, Sort</a:t>
            </a:r>
          </a:p>
        </p:txBody>
      </p:sp>
      <p:sp>
        <p:nvSpPr>
          <p:cNvPr id="111" name="Step 6"/>
          <p:cNvSpPr/>
          <p:nvPr/>
        </p:nvSpPr>
        <p:spPr>
          <a:xfrm>
            <a:off x="411480" y="301752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Step 6 number"/>
          <p:cNvSpPr/>
          <p:nvPr/>
        </p:nvSpPr>
        <p:spPr>
          <a:xfrm>
            <a:off x="548640" y="315467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6</a:t>
            </a:r>
          </a:p>
        </p:txBody>
      </p:sp>
      <p:sp>
        <p:nvSpPr>
          <p:cNvPr id="113" name="Step 6 text"/>
          <p:cNvSpPr txBox="1"/>
          <p:nvPr/>
        </p:nvSpPr>
        <p:spPr>
          <a:xfrm>
            <a:off x="1051560" y="315467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Export to Drive</a:t>
            </a:r>
          </a:p>
          <a:p>
            <a:pPr algn="l">
              <a:spcAft>
                <a:spcPts val="400"/>
              </a:spcAft>
            </a:pPr>
            <a:r>
              <a:rPr sz="1100" b="0">
                <a:solidFill>
                  <a:srgbClr val="5B6178"/>
                </a:solidFill>
                <a:latin typeface="Arial"/>
              </a:rPr>
              <a:t>Copies, one folder per person</a:t>
            </a:r>
          </a:p>
        </p:txBody>
      </p:sp>
      <p:sp>
        <p:nvSpPr>
          <p:cNvPr id="114" name="Right Arrow 113"/>
          <p:cNvSpPr/>
          <p:nvPr/>
        </p:nvSpPr>
        <p:spPr>
          <a:xfrm>
            <a:off x="3063240" y="1847088"/>
            <a:ext cx="182880" cy="182880"/>
          </a:xfrm>
          <a:prstGeom prst="righ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ight Arrow 114"/>
          <p:cNvSpPr/>
          <p:nvPr/>
        </p:nvSpPr>
        <p:spPr>
          <a:xfrm>
            <a:off x="5897880" y="1847088"/>
            <a:ext cx="182880" cy="182880"/>
          </a:xfrm>
          <a:prstGeom prst="righ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Left Arrow 115"/>
          <p:cNvSpPr/>
          <p:nvPr/>
        </p:nvSpPr>
        <p:spPr>
          <a:xfrm>
            <a:off x="5897880" y="3538728"/>
            <a:ext cx="182880" cy="182880"/>
          </a:xfrm>
          <a:prstGeom prst="lef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Left Arrow 116"/>
          <p:cNvSpPr/>
          <p:nvPr/>
        </p:nvSpPr>
        <p:spPr>
          <a:xfrm>
            <a:off x="3063240" y="3538728"/>
            <a:ext cx="182880" cy="182880"/>
          </a:xfrm>
          <a:prstGeom prst="lef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Down Arrow 117"/>
          <p:cNvSpPr/>
          <p:nvPr/>
        </p:nvSpPr>
        <p:spPr>
          <a:xfrm>
            <a:off x="7315200" y="2606040"/>
            <a:ext cx="182880" cy="365760"/>
          </a:xfrm>
          <a:prstGeom prst="down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Users line"/>
          <p:cNvSpPr txBox="1"/>
          <p:nvPr/>
        </p:nvSpPr>
        <p:spPr>
          <a:xfrm>
            <a:off x="411480" y="4389120"/>
            <a:ext cx="8321040" cy="457200"/>
          </a:xfrm>
          <a:prstGeom prst="rect">
            <a:avLst/>
          </a:prstGeom>
          <a:noFill/>
        </p:spPr>
        <p:txBody>
          <a:bodyPr wrap="square" anchor="t" lIns="0" rIns="0" tIns="0" bIns="0">
            <a:spAutoFit/>
          </a:bodyPr>
          <a:lstStyle/>
          <a:p>
            <a:pPr algn="l">
              <a:spcAft>
                <a:spcPts val="400"/>
              </a:spcAft>
            </a:pPr>
            <a:r>
              <a:rPr sz="1200" b="1">
                <a:solidFill>
                  <a:srgbClr val="5B6178"/>
                </a:solidFill>
                <a:latin typeface="Arial"/>
              </a:rPr>
              <a:t>Who uses it: </a:t>
            </a:r>
            <a:r>
              <a:rPr sz="1200" b="0">
                <a:solidFill>
                  <a:srgbClr val="5B6178"/>
                </a:solidFill>
                <a:latin typeface="Arial"/>
              </a:rPr>
              <a:t>the photographer culls and sorts; guests find themselves; friends share each person's folder.</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104" name="Phone 1" descr="phone_start.png"/>
          <p:cNvPicPr>
            <a:picLocks noChangeAspect="1"/>
          </p:cNvPicPr>
          <p:nvPr/>
        </p:nvPicPr>
        <p:blipFill>
          <a:blip r:embed="rId5"/>
          <a:stretch>
            <a:fillRect/>
          </a:stretch>
        </p:blipFill>
        <p:spPr>
          <a:xfrm>
            <a:off x="548640" y="1280160"/>
            <a:ext cx="1531620" cy="3063240"/>
          </a:xfrm>
          <a:prstGeom prst="rect">
            <a:avLst/>
          </a:prstGeom>
          <a:ln w="9525">
            <a:solidFill>
              <a:srgbClr val="D9DBE4"/>
            </a:solidFill>
          </a:ln>
        </p:spPr>
      </p:pic>
      <p:sp>
        <p:nvSpPr>
          <p:cNvPr id="105" name="Phone 1 caption"/>
          <p:cNvSpPr txBox="1"/>
          <p:nvPr/>
        </p:nvSpPr>
        <p:spPr>
          <a:xfrm>
            <a:off x="274320" y="4389120"/>
            <a:ext cx="2080260" cy="365760"/>
          </a:xfrm>
          <a:prstGeom prst="rect">
            <a:avLst/>
          </a:prstGeom>
          <a:noFill/>
        </p:spPr>
        <p:txBody>
          <a:bodyPr wrap="square" anchor="t" lIns="0" rIns="0" tIns="0" bIns="0">
            <a:spAutoFit/>
          </a:bodyPr>
          <a:lstStyle/>
          <a:p>
            <a:pPr algn="ctr">
              <a:spcAft>
                <a:spcPts val="400"/>
              </a:spcAft>
            </a:pPr>
            <a:r>
              <a:rPr sz="1100" b="0">
                <a:solidFill>
                  <a:srgbClr val="5B6178"/>
                </a:solidFill>
                <a:latin typeface="Arial"/>
              </a:rPr>
              <a:t>Start page</a:t>
            </a:r>
          </a:p>
        </p:txBody>
      </p:sp>
      <p:pic>
        <p:nvPicPr>
          <p:cNvPr id="106" name="Phone 2" descr="phone_menu_c.png"/>
          <p:cNvPicPr>
            <a:picLocks noChangeAspect="1"/>
          </p:cNvPicPr>
          <p:nvPr/>
        </p:nvPicPr>
        <p:blipFill>
          <a:blip r:embed="rId6"/>
          <a:stretch>
            <a:fillRect/>
          </a:stretch>
        </p:blipFill>
        <p:spPr>
          <a:xfrm>
            <a:off x="2606040" y="1280160"/>
            <a:ext cx="1531620" cy="1521801"/>
          </a:xfrm>
          <a:prstGeom prst="rect">
            <a:avLst/>
          </a:prstGeom>
          <a:ln w="9525">
            <a:solidFill>
              <a:srgbClr val="D9DBE4"/>
            </a:solidFill>
          </a:ln>
        </p:spPr>
      </p:pic>
      <p:sp>
        <p:nvSpPr>
          <p:cNvPr id="107" name="Phone 2 caption"/>
          <p:cNvSpPr txBox="1"/>
          <p:nvPr/>
        </p:nvSpPr>
        <p:spPr>
          <a:xfrm>
            <a:off x="2331720" y="4389120"/>
            <a:ext cx="2080260" cy="365760"/>
          </a:xfrm>
          <a:prstGeom prst="rect">
            <a:avLst/>
          </a:prstGeom>
          <a:noFill/>
        </p:spPr>
        <p:txBody>
          <a:bodyPr wrap="square" anchor="t" lIns="0" rIns="0" tIns="0" bIns="0">
            <a:spAutoFit/>
          </a:bodyPr>
          <a:lstStyle/>
          <a:p>
            <a:pPr algn="ctr">
              <a:spcAft>
                <a:spcPts val="400"/>
              </a:spcAft>
            </a:pPr>
            <a:r>
              <a:rPr sz="1100" b="0">
                <a:solidFill>
                  <a:srgbClr val="5B6178"/>
                </a:solidFill>
                <a:latin typeface="Arial"/>
              </a:rPr>
              <a:t>Album menu</a:t>
            </a:r>
          </a:p>
        </p:txBody>
      </p:sp>
      <p:pic>
        <p:nvPicPr>
          <p:cNvPr id="108" name="Phone 3" descr="phone_sort.png"/>
          <p:cNvPicPr>
            <a:picLocks noChangeAspect="1"/>
          </p:cNvPicPr>
          <p:nvPr/>
        </p:nvPicPr>
        <p:blipFill>
          <a:blip r:embed="rId7"/>
          <a:stretch>
            <a:fillRect/>
          </a:stretch>
        </p:blipFill>
        <p:spPr>
          <a:xfrm>
            <a:off x="4663440" y="1280160"/>
            <a:ext cx="1531620" cy="3063240"/>
          </a:xfrm>
          <a:prstGeom prst="rect">
            <a:avLst/>
          </a:prstGeom>
          <a:ln w="9525">
            <a:solidFill>
              <a:srgbClr val="D9DBE4"/>
            </a:solidFill>
          </a:ln>
        </p:spPr>
      </p:pic>
      <p:sp>
        <p:nvSpPr>
          <p:cNvPr id="109" name="Phone 3 caption"/>
          <p:cNvSpPr txBox="1"/>
          <p:nvPr/>
        </p:nvSpPr>
        <p:spPr>
          <a:xfrm>
            <a:off x="4389120" y="4389120"/>
            <a:ext cx="2080260" cy="365760"/>
          </a:xfrm>
          <a:prstGeom prst="rect">
            <a:avLst/>
          </a:prstGeom>
          <a:noFill/>
        </p:spPr>
        <p:txBody>
          <a:bodyPr wrap="square" anchor="t" lIns="0" rIns="0" tIns="0" bIns="0">
            <a:spAutoFit/>
          </a:bodyPr>
          <a:lstStyle/>
          <a:p>
            <a:pPr algn="ctr">
              <a:spcAft>
                <a:spcPts val="400"/>
              </a:spcAft>
            </a:pPr>
            <a:r>
              <a:rPr sz="1100" b="0">
                <a:solidFill>
                  <a:srgbClr val="5B6178"/>
                </a:solidFill>
                <a:latin typeface="Arial"/>
              </a:rPr>
              <a:t>Sort by description</a:t>
            </a:r>
          </a:p>
        </p:txBody>
      </p:sp>
      <p:sp>
        <p:nvSpPr>
          <p:cNvPr id="110" name="Phone note"/>
          <p:cNvSpPr txBox="1"/>
          <p:nvPr/>
        </p:nvSpPr>
        <p:spPr>
          <a:xfrm>
            <a:off x="6629400" y="1371600"/>
            <a:ext cx="2103120" cy="292608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Phone first</a:t>
            </a:r>
          </a:p>
          <a:p>
            <a:pPr algn="l">
              <a:spcAft>
                <a:spcPts val="400"/>
              </a:spcAft>
            </a:pPr>
            <a:r>
              <a:rPr sz="1200" b="0">
                <a:solidFill>
                  <a:srgbClr val="1F2540"/>
                </a:solidFill>
                <a:latin typeface="Arial"/>
              </a:rPr>
              <a:t>Works from 320 px wide to desktop, with large touch targets and a bottom action bar. Our own pink design and camera mascot.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Architecture diagram" descr="architecture_c.png"/>
          <p:cNvPicPr>
            <a:picLocks noChangeAspect="1"/>
          </p:cNvPicPr>
          <p:nvPr/>
        </p:nvPicPr>
        <p:blipFill>
          <a:blip r:embed="rId5"/>
          <a:stretch>
            <a:fillRect/>
          </a:stretch>
        </p:blipFill>
        <p:spPr>
          <a:xfrm>
            <a:off x="502920" y="1234440"/>
            <a:ext cx="8138160" cy="369608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411480" y="1325880"/>
            <a:ext cx="2651760" cy="3520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ch card 1 text"/>
          <p:cNvSpPr txBox="1"/>
          <p:nvPr/>
        </p:nvSpPr>
        <p:spPr>
          <a:xfrm>
            <a:off x="594360" y="1463040"/>
            <a:ext cx="2286000" cy="329184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Google Cloud</a:t>
            </a:r>
          </a:p>
          <a:p>
            <a:pPr algn="l">
              <a:spcAft>
                <a:spcPts val="500"/>
              </a:spcAft>
            </a:pPr>
            <a:r>
              <a:rPr sz="1100" b="1">
                <a:solidFill>
                  <a:srgbClr val="1F2540"/>
                </a:solidFill>
                <a:latin typeface="Arial"/>
              </a:rPr>
              <a:t>Cloud Run</a:t>
            </a:r>
            <a:r>
              <a:rPr sz="1100" b="0">
                <a:solidFill>
                  <a:srgbClr val="1F2540"/>
                </a:solidFill>
                <a:latin typeface="Arial"/>
              </a:rPr>
              <a:t>: runs the app and the face model</a:t>
            </a:r>
          </a:p>
          <a:p>
            <a:pPr algn="l">
              <a:spcAft>
                <a:spcPts val="500"/>
              </a:spcAft>
            </a:pPr>
            <a:r>
              <a:rPr sz="1100" b="1">
                <a:solidFill>
                  <a:srgbClr val="1F2540"/>
                </a:solidFill>
                <a:latin typeface="Arial"/>
              </a:rPr>
              <a:t>Firestore</a:t>
            </a:r>
            <a:r>
              <a:rPr sz="1100" b="0">
                <a:solidFill>
                  <a:srgbClr val="1F2540"/>
                </a:solidFill>
                <a:latin typeface="Arial"/>
              </a:rPr>
              <a:t>: scan results, Gemini notes, names</a:t>
            </a:r>
          </a:p>
          <a:p>
            <a:pPr algn="l">
              <a:spcAft>
                <a:spcPts val="500"/>
              </a:spcAft>
            </a:pPr>
            <a:r>
              <a:rPr sz="1100" b="1">
                <a:solidFill>
                  <a:srgbClr val="1F2540"/>
                </a:solidFill>
                <a:latin typeface="Arial"/>
              </a:rPr>
              <a:t>Firebase Hosting</a:t>
            </a:r>
            <a:r>
              <a:rPr sz="1100" b="0">
                <a:solidFill>
                  <a:srgbClr val="1F2540"/>
                </a:solidFill>
                <a:latin typeface="Arial"/>
              </a:rPr>
              <a:t>: the public address</a:t>
            </a:r>
          </a:p>
          <a:p>
            <a:pPr algn="l">
              <a:spcAft>
                <a:spcPts val="500"/>
              </a:spcAft>
            </a:pPr>
            <a:r>
              <a:rPr sz="1100" b="1">
                <a:solidFill>
                  <a:srgbClr val="1F2540"/>
                </a:solidFill>
                <a:latin typeface="Arial"/>
              </a:rPr>
              <a:t>Vertex AI</a:t>
            </a:r>
            <a:r>
              <a:rPr sz="1100" b="0">
                <a:solidFill>
                  <a:srgbClr val="1F2540"/>
                </a:solidFill>
                <a:latin typeface="Arial"/>
              </a:rPr>
              <a:t>: Gemini, no API key needed</a:t>
            </a:r>
          </a:p>
          <a:p>
            <a:pPr algn="l">
              <a:spcAft>
                <a:spcPts val="500"/>
              </a:spcAft>
            </a:pPr>
            <a:r>
              <a:rPr sz="1100" b="1">
                <a:solidFill>
                  <a:srgbClr val="1F2540"/>
                </a:solidFill>
                <a:latin typeface="Arial"/>
              </a:rPr>
              <a:t>Drive API, Google sign-in</a:t>
            </a:r>
            <a:r>
              <a:rPr sz="1100" b="0">
                <a:solidFill>
                  <a:srgbClr val="1F2540"/>
                </a:solidFill>
                <a:latin typeface="Arial"/>
              </a:rPr>
              <a:t>: read albums, copy photos</a:t>
            </a:r>
          </a:p>
          <a:p>
            <a:pPr algn="l">
              <a:spcAft>
                <a:spcPts val="500"/>
              </a:spcAft>
            </a:pPr>
            <a:r>
              <a:rPr sz="1100" b="1">
                <a:solidFill>
                  <a:srgbClr val="1F2540"/>
                </a:solidFill>
                <a:latin typeface="Arial"/>
              </a:rPr>
              <a:t>Secret Manager</a:t>
            </a:r>
            <a:r>
              <a:rPr sz="1100" b="0">
                <a:solidFill>
                  <a:srgbClr val="1F2540"/>
                </a:solidFill>
                <a:latin typeface="Arial"/>
              </a:rPr>
              <a:t>: sign-in secrets</a:t>
            </a:r>
          </a:p>
        </p:txBody>
      </p:sp>
      <p:sp>
        <p:nvSpPr>
          <p:cNvPr id="122" name="Tech card 2"/>
          <p:cNvSpPr/>
          <p:nvPr/>
        </p:nvSpPr>
        <p:spPr>
          <a:xfrm>
            <a:off x="3246120" y="1325880"/>
            <a:ext cx="2651760" cy="3520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ch card 2 text"/>
          <p:cNvSpPr txBox="1"/>
          <p:nvPr/>
        </p:nvSpPr>
        <p:spPr>
          <a:xfrm>
            <a:off x="3429000" y="1463040"/>
            <a:ext cx="2286000" cy="329184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AI models</a:t>
            </a:r>
          </a:p>
          <a:p>
            <a:pPr algn="l">
              <a:spcAft>
                <a:spcPts val="500"/>
              </a:spcAft>
            </a:pPr>
            <a:r>
              <a:rPr sz="1100" b="1">
                <a:solidFill>
                  <a:srgbClr val="1F2540"/>
                </a:solidFill>
                <a:latin typeface="Arial"/>
              </a:rPr>
              <a:t>Gemini 3.5 Flash</a:t>
            </a:r>
            <a:r>
              <a:rPr sz="1100" b="0">
                <a:solidFill>
                  <a:srgbClr val="1F2540"/>
                </a:solidFill>
                <a:latin typeface="Arial"/>
              </a:rPr>
              <a:t>: photo notes, sorting, folder suggestions, structured JSON</a:t>
            </a:r>
          </a:p>
          <a:p>
            <a:pPr algn="l">
              <a:spcAft>
                <a:spcPts val="500"/>
              </a:spcAft>
            </a:pPr>
            <a:r>
              <a:rPr sz="1100" b="1">
                <a:solidFill>
                  <a:srgbClr val="1F2540"/>
                </a:solidFill>
                <a:latin typeface="Arial"/>
              </a:rPr>
              <a:t>InsightFace buffalo_l</a:t>
            </a:r>
            <a:r>
              <a:rPr sz="1100" b="0">
                <a:solidFill>
                  <a:srgbClr val="1F2540"/>
                </a:solidFill>
                <a:latin typeface="Arial"/>
              </a:rPr>
              <a:t>: face detection and 512-number face matching, ONNX Runtime on CPU</a:t>
            </a:r>
          </a:p>
          <a:p>
            <a:pPr algn="l">
              <a:spcAft>
                <a:spcPts val="500"/>
              </a:spcAft>
            </a:pPr>
            <a:r>
              <a:rPr sz="1100" b="1">
                <a:solidFill>
                  <a:srgbClr val="1F2540"/>
                </a:solidFill>
                <a:latin typeface="Arial"/>
              </a:rPr>
              <a:t>OpenCV</a:t>
            </a:r>
            <a:r>
              <a:rPr sz="1100" b="0">
                <a:solidFill>
                  <a:srgbClr val="1F2540"/>
                </a:solidFill>
                <a:latin typeface="Arial"/>
              </a:rPr>
              <a:t>: image handling, burst fingerprints</a:t>
            </a:r>
          </a:p>
        </p:txBody>
      </p:sp>
      <p:sp>
        <p:nvSpPr>
          <p:cNvPr id="124" name="Tech card 3"/>
          <p:cNvSpPr/>
          <p:nvPr/>
        </p:nvSpPr>
        <p:spPr>
          <a:xfrm>
            <a:off x="6080760" y="1325880"/>
            <a:ext cx="2651760" cy="3520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ch card 3 text"/>
          <p:cNvSpPr txBox="1"/>
          <p:nvPr/>
        </p:nvSpPr>
        <p:spPr>
          <a:xfrm>
            <a:off x="6263640" y="1463040"/>
            <a:ext cx="2286000" cy="329184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App and tools</a:t>
            </a:r>
          </a:p>
          <a:p>
            <a:pPr algn="l">
              <a:spcAft>
                <a:spcPts val="500"/>
              </a:spcAft>
            </a:pPr>
            <a:r>
              <a:rPr sz="1100" b="1">
                <a:solidFill>
                  <a:srgbClr val="1F2540"/>
                </a:solidFill>
                <a:latin typeface="Arial"/>
              </a:rPr>
              <a:t>Python, FastAPI</a:t>
            </a:r>
            <a:r>
              <a:rPr sz="1100" b="0">
                <a:solidFill>
                  <a:srgbClr val="1F2540"/>
                </a:solidFill>
                <a:latin typeface="Arial"/>
              </a:rPr>
              <a:t>: server and background jobs</a:t>
            </a:r>
          </a:p>
          <a:p>
            <a:pPr algn="l">
              <a:spcAft>
                <a:spcPts val="500"/>
              </a:spcAft>
            </a:pPr>
            <a:r>
              <a:rPr sz="1100" b="1">
                <a:solidFill>
                  <a:srgbClr val="1F2540"/>
                </a:solidFill>
                <a:latin typeface="Arial"/>
              </a:rPr>
              <a:t>HTML, CSS, JavaScript</a:t>
            </a:r>
            <a:r>
              <a:rPr sz="1100" b="0">
                <a:solidFill>
                  <a:srgbClr val="1F2540"/>
                </a:solidFill>
                <a:latin typeface="Arial"/>
              </a:rPr>
              <a:t>: one-file front end</a:t>
            </a:r>
          </a:p>
          <a:p>
            <a:pPr algn="l">
              <a:spcAft>
                <a:spcPts val="500"/>
              </a:spcAft>
            </a:pPr>
            <a:r>
              <a:rPr sz="1100" b="1">
                <a:solidFill>
                  <a:srgbClr val="1F2540"/>
                </a:solidFill>
                <a:latin typeface="Arial"/>
              </a:rPr>
              <a:t>Docker</a:t>
            </a:r>
            <a:r>
              <a:rPr sz="1100" b="0">
                <a:solidFill>
                  <a:srgbClr val="1F2540"/>
                </a:solidFill>
                <a:latin typeface="Arial"/>
              </a:rPr>
              <a:t>: one container</a:t>
            </a:r>
          </a:p>
          <a:p>
            <a:pPr algn="l">
              <a:spcAft>
                <a:spcPts val="500"/>
              </a:spcAft>
            </a:pPr>
            <a:r>
              <a:rPr sz="1100" b="1">
                <a:solidFill>
                  <a:srgbClr val="1F2540"/>
                </a:solidFill>
                <a:latin typeface="Arial"/>
              </a:rPr>
              <a:t>Tests</a:t>
            </a:r>
            <a:r>
              <a:rPr sz="1100" b="0">
                <a:solidFill>
                  <a:srgbClr val="1F2540"/>
                </a:solidFill>
                <a:latin typeface="Arial"/>
              </a:rPr>
              <a:t>: 90 Python checks, Playwright browser tests</a:t>
            </a:r>
          </a:p>
          <a:p>
            <a:pPr algn="l">
              <a:spcAft>
                <a:spcPts val="500"/>
              </a:spcAft>
            </a:pPr>
            <a:r>
              <a:rPr sz="1100" b="1">
                <a:solidFill>
                  <a:srgbClr val="1F2540"/>
                </a:solidFill>
                <a:latin typeface="Arial"/>
              </a:rPr>
              <a:t>Antigravity, Gemini</a:t>
            </a:r>
            <a:r>
              <a:rPr sz="1100" b="0">
                <a:solidFill>
                  <a:srgbClr val="1F2540"/>
                </a:solidFill>
                <a:latin typeface="Arial"/>
              </a:rPr>
              <a:t>: browser testing, demo photos of made-up people</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Cost text"/>
          <p:cNvSpPr txBox="1"/>
          <p:nvPr/>
        </p:nvSpPr>
        <p:spPr>
          <a:xfrm>
            <a:off x="411480" y="1325880"/>
            <a:ext cx="5120640" cy="356616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What it costs to run</a:t>
            </a:r>
          </a:p>
          <a:p>
            <a:pPr algn="l" marL="164592" indent="-146304">
              <a:spcAft>
                <a:spcPts val="600"/>
              </a:spcAft>
              <a:buChar char="•"/>
            </a:pPr>
            <a:r>
              <a:rPr sz="1200" b="1">
                <a:solidFill>
                  <a:srgbClr val="1F2540"/>
                </a:solidFill>
                <a:latin typeface="Arial"/>
              </a:rPr>
              <a:t>Cloud Run: </a:t>
            </a:r>
            <a:r>
              <a:rPr sz="1200" b="0">
                <a:solidFill>
                  <a:srgbClr val="1F2540"/>
                </a:solidFill>
                <a:latin typeface="Arial"/>
              </a:rPr>
              <a:t>one 4-vCPU instance that scales to zero, so an idle app has no compute cost.</a:t>
            </a:r>
          </a:p>
          <a:p>
            <a:pPr algn="l" marL="164592" indent="-146304">
              <a:spcAft>
                <a:spcPts val="600"/>
              </a:spcAft>
              <a:buChar char="•"/>
            </a:pPr>
            <a:r>
              <a:rPr sz="1200" b="1">
                <a:solidFill>
                  <a:srgbClr val="1F2540"/>
                </a:solidFill>
                <a:latin typeface="Arial"/>
              </a:rPr>
              <a:t>Gemini: </a:t>
            </a:r>
            <a:r>
              <a:rPr sz="1200" b="0">
                <a:solidFill>
                  <a:srgbClr val="1F2540"/>
                </a:solidFill>
                <a:latin typeface="Arial"/>
              </a:rPr>
              <a:t>one call per photo, once, on a 768 px copy. Results are cached, so rescans cost nothing. Sort sends text only, 40 photos per call.</a:t>
            </a:r>
          </a:p>
          <a:p>
            <a:pPr algn="l" marL="164592" indent="-146304">
              <a:spcAft>
                <a:spcPts val="600"/>
              </a:spcAft>
              <a:buChar char="•"/>
            </a:pPr>
            <a:r>
              <a:rPr sz="1200" b="1">
                <a:solidFill>
                  <a:srgbClr val="1F2540"/>
                </a:solidFill>
                <a:latin typeface="Arial"/>
              </a:rPr>
              <a:t>Free after the scan: </a:t>
            </a:r>
            <a:r>
              <a:rPr sz="1200" b="0">
                <a:solidFill>
                  <a:srgbClr val="1F2540"/>
                </a:solidFill>
                <a:latin typeface="Arial"/>
              </a:rPr>
              <a:t>Find people, Cull and Best 10 reuse the saved notes; face matching runs in our container, with no per-photo fee.</a:t>
            </a:r>
          </a:p>
          <a:p>
            <a:pPr algn="l" marL="164592" indent="-146304">
              <a:spcAft>
                <a:spcPts val="600"/>
              </a:spcAft>
              <a:buChar char="•"/>
            </a:pPr>
            <a:r>
              <a:rPr sz="1200" b="1">
                <a:solidFill>
                  <a:srgbClr val="1F2540"/>
                </a:solidFill>
                <a:latin typeface="Arial"/>
              </a:rPr>
              <a:t>Firestore and Drive: </a:t>
            </a:r>
            <a:r>
              <a:rPr sz="1200" b="0">
                <a:solidFill>
                  <a:srgbClr val="1F2540"/>
                </a:solidFill>
                <a:latin typeface="Arial"/>
              </a:rPr>
              <a:t>one document per photo; copies are made inside Google, with no download or upload.</a:t>
            </a:r>
          </a:p>
        </p:txBody>
      </p:sp>
      <p:sp>
        <p:nvSpPr>
          <p:cNvPr id="129" name="Cost callout"/>
          <p:cNvSpPr/>
          <p:nvPr/>
        </p:nvSpPr>
        <p:spPr>
          <a:xfrm>
            <a:off x="5852160" y="1463040"/>
            <a:ext cx="2880360" cy="310896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Cost numbers"/>
          <p:cNvSpPr txBox="1"/>
          <p:nvPr/>
        </p:nvSpPr>
        <p:spPr>
          <a:xfrm>
            <a:off x="6035040" y="1645920"/>
            <a:ext cx="2514600" cy="2743200"/>
          </a:xfrm>
          <a:prstGeom prst="rect">
            <a:avLst/>
          </a:prstGeom>
          <a:noFill/>
        </p:spPr>
        <p:txBody>
          <a:bodyPr wrap="square" anchor="t" lIns="0" rIns="0" tIns="0" bIns="0">
            <a:spAutoFit/>
          </a:bodyPr>
          <a:lstStyle/>
          <a:p>
            <a:pPr algn="l">
              <a:spcAft>
                <a:spcPts val="600"/>
              </a:spcAft>
            </a:pPr>
            <a:r>
              <a:rPr sz="1300" b="1">
                <a:solidFill>
                  <a:srgbClr val="D6336C"/>
                </a:solidFill>
                <a:latin typeface="Arial"/>
              </a:rPr>
              <a:t>Per 1,000 photos</a:t>
            </a:r>
          </a:p>
          <a:p>
            <a:pPr algn="l">
              <a:spcAft>
                <a:spcPts val="0"/>
              </a:spcAft>
            </a:pPr>
            <a:r>
              <a:rPr sz="3000" b="1">
                <a:solidFill>
                  <a:srgbClr val="1F2540"/>
                </a:solidFill>
                <a:latin typeface="Arial"/>
              </a:rPr>
              <a:t>1,000</a:t>
            </a:r>
          </a:p>
          <a:p>
            <a:pPr algn="l">
              <a:spcAft>
                <a:spcPts val="1000"/>
              </a:spcAft>
            </a:pPr>
            <a:r>
              <a:rPr sz="1100" b="0">
                <a:solidFill>
                  <a:srgbClr val="5B6178"/>
                </a:solidFill>
                <a:latin typeface="Arial"/>
              </a:rPr>
              <a:t>Gemini image calls, once</a:t>
            </a:r>
          </a:p>
          <a:p>
            <a:pPr algn="l">
              <a:spcAft>
                <a:spcPts val="0"/>
              </a:spcAft>
            </a:pPr>
            <a:r>
              <a:rPr sz="3000" b="1">
                <a:solidFill>
                  <a:srgbClr val="1F2540"/>
                </a:solidFill>
                <a:latin typeface="Arial"/>
              </a:rPr>
              <a:t>~25</a:t>
            </a:r>
          </a:p>
          <a:p>
            <a:pPr algn="l">
              <a:spcAft>
                <a:spcPts val="1000"/>
              </a:spcAft>
            </a:pPr>
            <a:r>
              <a:rPr sz="1100" b="0">
                <a:solidFill>
                  <a:srgbClr val="5B6178"/>
                </a:solidFill>
                <a:latin typeface="Arial"/>
              </a:rPr>
              <a:t>text calls for each sort</a:t>
            </a:r>
          </a:p>
          <a:p>
            <a:pPr algn="l">
              <a:spcAft>
                <a:spcPts val="0"/>
              </a:spcAft>
            </a:pPr>
            <a:r>
              <a:rPr sz="3000" b="1">
                <a:solidFill>
                  <a:srgbClr val="1F2540"/>
                </a:solidFill>
                <a:latin typeface="Arial"/>
              </a:rPr>
              <a:t>0</a:t>
            </a:r>
          </a:p>
          <a:p>
            <a:pPr algn="l">
              <a:spcAft>
                <a:spcPts val="400"/>
              </a:spcAft>
            </a:pPr>
            <a:r>
              <a:rPr sz="1100" b="0">
                <a:solidFill>
                  <a:srgbClr val="5B6178"/>
                </a:solidFill>
                <a:latin typeface="Arial"/>
              </a:rPr>
              <a:t>Gemini calls to rescan</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napshot Everyone" descr="everyone_live.png"/>
          <p:cNvPicPr>
            <a:picLocks noChangeAspect="1"/>
          </p:cNvPicPr>
          <p:nvPr/>
        </p:nvPicPr>
        <p:blipFill>
          <a:blip r:embed="rId5"/>
          <a:stretch>
            <a:fillRect/>
          </a:stretch>
        </p:blipFill>
        <p:spPr>
          <a:xfrm>
            <a:off x="411480" y="1280160"/>
            <a:ext cx="4937760" cy="2825729"/>
          </a:xfrm>
          <a:prstGeom prst="rect">
            <a:avLst/>
          </a:prstGeom>
          <a:ln w="9525">
            <a:solidFill>
              <a:srgbClr val="D9DBE4"/>
            </a:solidFill>
          </a:ln>
        </p:spPr>
      </p:pic>
      <p:sp>
        <p:nvSpPr>
          <p:cNvPr id="137" name="Snapshot caption"/>
          <p:cNvSpPr txBox="1"/>
          <p:nvPr/>
        </p:nvSpPr>
        <p:spPr>
          <a:xfrm>
            <a:off x="411480" y="4179041"/>
            <a:ext cx="4937760" cy="54864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Everyone on the live app: name a face to make a folder. Right: scanning, and Sort by description.</a:t>
            </a:r>
          </a:p>
        </p:txBody>
      </p:sp>
      <p:pic>
        <p:nvPicPr>
          <p:cNvPr id="138" name="Snapshot scan" descr="scan_c.png"/>
          <p:cNvPicPr>
            <a:picLocks noChangeAspect="1"/>
          </p:cNvPicPr>
          <p:nvPr/>
        </p:nvPicPr>
        <p:blipFill>
          <a:blip r:embed="rId6"/>
          <a:stretch>
            <a:fillRect/>
          </a:stretch>
        </p:blipFill>
        <p:spPr>
          <a:xfrm>
            <a:off x="5623560" y="1280160"/>
            <a:ext cx="3108960" cy="1295400"/>
          </a:xfrm>
          <a:prstGeom prst="rect">
            <a:avLst/>
          </a:prstGeom>
          <a:ln w="9525">
            <a:solidFill>
              <a:srgbClr val="D9DBE4"/>
            </a:solidFill>
          </a:ln>
        </p:spPr>
      </p:pic>
      <p:pic>
        <p:nvPicPr>
          <p:cNvPr id="139" name="Snapshot sort" descr="sort_c.png"/>
          <p:cNvPicPr>
            <a:picLocks noChangeAspect="1"/>
          </p:cNvPicPr>
          <p:nvPr/>
        </p:nvPicPr>
        <p:blipFill>
          <a:blip r:embed="rId7"/>
          <a:stretch>
            <a:fillRect/>
          </a:stretch>
        </p:blipFill>
        <p:spPr>
          <a:xfrm>
            <a:off x="5623560" y="2788920"/>
            <a:ext cx="3108960" cy="1209040"/>
          </a:xfrm>
          <a:prstGeom prst="rect">
            <a:avLst/>
          </a:prstGeom>
          <a:ln w="9525">
            <a:solidFill>
              <a:srgbClr val="D9DBE4"/>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1"/>
          <p:cNvSpPr/>
          <p:nvPr/>
        </p:nvSpPr>
        <p:spPr>
          <a:xfrm>
            <a:off x="411480" y="132588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tat 1 text"/>
          <p:cNvSpPr txBox="1"/>
          <p:nvPr/>
        </p:nvSpPr>
        <p:spPr>
          <a:xfrm>
            <a:off x="594360" y="1463039"/>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0.75–0.98</a:t>
            </a:r>
          </a:p>
          <a:p>
            <a:pPr algn="l">
              <a:spcAft>
                <a:spcPts val="400"/>
              </a:spcAft>
            </a:pPr>
            <a:r>
              <a:rPr sz="1100" b="0">
                <a:solidFill>
                  <a:srgbClr val="1F2540"/>
                </a:solidFill>
                <a:latin typeface="Arial"/>
              </a:rPr>
              <a:t>face match score for the same person, against −0.05 for a different person</a:t>
            </a:r>
          </a:p>
        </p:txBody>
      </p:sp>
      <p:sp>
        <p:nvSpPr>
          <p:cNvPr id="146" name="Stat 2"/>
          <p:cNvSpPr/>
          <p:nvPr/>
        </p:nvSpPr>
        <p:spPr>
          <a:xfrm>
            <a:off x="3246120" y="132588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Stat 2 text"/>
          <p:cNvSpPr txBox="1"/>
          <p:nvPr/>
        </p:nvSpPr>
        <p:spPr>
          <a:xfrm>
            <a:off x="3429000" y="1463039"/>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40 of 40</a:t>
            </a:r>
          </a:p>
          <a:p>
            <a:pPr algn="l">
              <a:spcAft>
                <a:spcPts val="400"/>
              </a:spcAft>
            </a:pPr>
            <a:r>
              <a:rPr sz="1100" b="0">
                <a:solidFill>
                  <a:srgbClr val="1F2540"/>
                </a:solidFill>
                <a:latin typeface="Arial"/>
              </a:rPr>
              <a:t>faces 18 px wide (the back rows of a class photo) found, using two detection sizes</a:t>
            </a:r>
          </a:p>
        </p:txBody>
      </p:sp>
      <p:sp>
        <p:nvSpPr>
          <p:cNvPr id="148" name="Stat 3"/>
          <p:cNvSpPr/>
          <p:nvPr/>
        </p:nvSpPr>
        <p:spPr>
          <a:xfrm>
            <a:off x="6080760" y="132588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tat 3 text"/>
          <p:cNvSpPr txBox="1"/>
          <p:nvPr/>
        </p:nvSpPr>
        <p:spPr>
          <a:xfrm>
            <a:off x="6263640" y="1463039"/>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~2.6 s</a:t>
            </a:r>
          </a:p>
          <a:p>
            <a:pPr algn="l">
              <a:spcAft>
                <a:spcPts val="400"/>
              </a:spcAft>
            </a:pPr>
            <a:r>
              <a:rPr sz="1100" b="0">
                <a:solidFill>
                  <a:srgbClr val="1F2540"/>
                </a:solidFill>
                <a:latin typeface="Arial"/>
              </a:rPr>
              <a:t>per photo for a live scan with Gemini notes (37 photos in 1 min 36 s, 4 vCPU)</a:t>
            </a:r>
          </a:p>
        </p:txBody>
      </p:sp>
      <p:sp>
        <p:nvSpPr>
          <p:cNvPr id="150" name="Stat 4"/>
          <p:cNvSpPr/>
          <p:nvPr/>
        </p:nvSpPr>
        <p:spPr>
          <a:xfrm>
            <a:off x="411480" y="297180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tat 4 text"/>
          <p:cNvSpPr txBox="1"/>
          <p:nvPr/>
        </p:nvSpPr>
        <p:spPr>
          <a:xfrm>
            <a:off x="594360" y="3108960"/>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45 s</a:t>
            </a:r>
          </a:p>
          <a:p>
            <a:pPr algn="l">
              <a:spcAft>
                <a:spcPts val="400"/>
              </a:spcAft>
            </a:pPr>
            <a:r>
              <a:rPr sz="1100" b="0">
                <a:solidFill>
                  <a:srgbClr val="1F2540"/>
                </a:solidFill>
                <a:latin typeface="Arial"/>
              </a:rPr>
              <a:t>to export 54 copies into 3 person folders in Google Drive</a:t>
            </a:r>
          </a:p>
        </p:txBody>
      </p:sp>
      <p:sp>
        <p:nvSpPr>
          <p:cNvPr id="152" name="Stat 5"/>
          <p:cNvSpPr/>
          <p:nvPr/>
        </p:nvSpPr>
        <p:spPr>
          <a:xfrm>
            <a:off x="3246120" y="297180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tat 5 text"/>
          <p:cNvSpPr txBox="1"/>
          <p:nvPr/>
        </p:nvSpPr>
        <p:spPr>
          <a:xfrm>
            <a:off x="3429000" y="3108960"/>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~1 s</a:t>
            </a:r>
          </a:p>
          <a:p>
            <a:pPr algn="l">
              <a:spcAft>
                <a:spcPts val="400"/>
              </a:spcAft>
            </a:pPr>
            <a:r>
              <a:rPr sz="1100" b="0">
                <a:solidFill>
                  <a:srgbClr val="1F2540"/>
                </a:solidFill>
                <a:latin typeface="Arial"/>
              </a:rPr>
              <a:t>to find a person from one selfie once the album is scanned</a:t>
            </a:r>
          </a:p>
        </p:txBody>
      </p:sp>
      <p:sp>
        <p:nvSpPr>
          <p:cNvPr id="154" name="Stat 6"/>
          <p:cNvSpPr/>
          <p:nvPr/>
        </p:nvSpPr>
        <p:spPr>
          <a:xfrm>
            <a:off x="6080760" y="297180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Stat 6 text"/>
          <p:cNvSpPr txBox="1"/>
          <p:nvPr/>
        </p:nvSpPr>
        <p:spPr>
          <a:xfrm>
            <a:off x="6263640" y="3108960"/>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~5 s</a:t>
            </a:r>
          </a:p>
          <a:p>
            <a:pPr algn="l">
              <a:spcAft>
                <a:spcPts val="400"/>
              </a:spcAft>
            </a:pPr>
            <a:r>
              <a:rPr sz="1100" b="0">
                <a:solidFill>
                  <a:srgbClr val="1F2540"/>
                </a:solidFill>
                <a:latin typeface="Arial"/>
              </a:rPr>
              <a:t>for Stop to end a scan; a rescan makes 0 new Gemini calls</a:t>
            </a:r>
          </a:p>
        </p:txBody>
      </p:sp>
      <p:sp>
        <p:nvSpPr>
          <p:cNvPr id="156" name="Stats source"/>
          <p:cNvSpPr txBox="1"/>
          <p:nvPr/>
        </p:nvSpPr>
        <p:spPr>
          <a:xfrm>
            <a:off x="411480" y="4663440"/>
            <a:ext cx="8321040" cy="32004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Measured on the live app by test users on 17–18 October 2026, and by the repository's automatic tests.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pic>
        <p:nvPicPr>
          <p:cNvPr id="152" name="Privacy screenshot" descr="privacy.png"/>
          <p:cNvPicPr>
            <a:picLocks noChangeAspect="1"/>
          </p:cNvPicPr>
          <p:nvPr/>
        </p:nvPicPr>
        <p:blipFill>
          <a:blip r:embed="rId5"/>
          <a:stretch>
            <a:fillRect/>
          </a:stretch>
        </p:blipFill>
        <p:spPr>
          <a:xfrm>
            <a:off x="411480" y="1325880"/>
            <a:ext cx="4023360" cy="2402840"/>
          </a:xfrm>
          <a:prstGeom prst="rect">
            <a:avLst/>
          </a:prstGeom>
          <a:ln w="9525">
            <a:solidFill>
              <a:srgbClr val="D9DBE4"/>
            </a:solidFill>
          </a:ln>
        </p:spPr>
      </p:pic>
      <p:sp>
        <p:nvSpPr>
          <p:cNvPr id="153" name="Privacy caption"/>
          <p:cNvSpPr txBox="1"/>
          <p:nvPr/>
        </p:nvSpPr>
        <p:spPr>
          <a:xfrm>
            <a:off x="411480" y="3801872"/>
            <a:ext cx="4023360" cy="73152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Trust today: no photos stored, a plain list of what is kept, public privacy policy, and "Delete this album's data" in the album menu.</a:t>
            </a:r>
          </a:p>
        </p:txBody>
      </p:sp>
      <p:sp>
        <p:nvSpPr>
          <p:cNvPr id="154" name="Future text"/>
          <p:cNvSpPr txBox="1"/>
          <p:nvPr/>
        </p:nvSpPr>
        <p:spPr>
          <a:xfrm>
            <a:off x="4754880" y="1325880"/>
            <a:ext cx="4023360" cy="356616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Next steps</a:t>
            </a:r>
          </a:p>
          <a:p>
            <a:pPr algn="l" marL="164592" indent="-146304">
              <a:spcAft>
                <a:spcPts val="600"/>
              </a:spcAft>
              <a:buChar char="•"/>
            </a:pPr>
            <a:r>
              <a:rPr sz="1200" b="1">
                <a:solidFill>
                  <a:srgbClr val="1F2540"/>
                </a:solidFill>
                <a:latin typeface="Arial"/>
              </a:rPr>
              <a:t>Scale: </a:t>
            </a:r>
            <a:r>
              <a:rPr sz="1200" b="0">
                <a:solidFill>
                  <a:srgbClr val="1F2540"/>
                </a:solidFill>
                <a:latin typeface="Arial"/>
              </a:rPr>
              <a:t>move scans and exports to Cloud Run jobs or Cloud Tasks; Firestore already holds all state.</a:t>
            </a:r>
          </a:p>
          <a:p>
            <a:pPr algn="l" marL="164592" indent="-146304">
              <a:spcAft>
                <a:spcPts val="600"/>
              </a:spcAft>
              <a:buChar char="•"/>
            </a:pPr>
            <a:r>
              <a:rPr sz="1200" b="1">
                <a:solidFill>
                  <a:srgbClr val="1F2540"/>
                </a:solidFill>
                <a:latin typeface="Arial"/>
              </a:rPr>
              <a:t>Guest mode: </a:t>
            </a:r>
            <a:r>
              <a:rPr sz="1200" b="0">
                <a:solidFill>
                  <a:srgbClr val="1F2540"/>
                </a:solidFill>
                <a:latin typeface="Arial"/>
              </a:rPr>
              <a:t>a QR code at the event so each guest finds their own photos.</a:t>
            </a:r>
          </a:p>
          <a:p>
            <a:pPr algn="l" marL="164592" indent="-146304">
              <a:spcAft>
                <a:spcPts val="600"/>
              </a:spcAft>
              <a:buChar char="•"/>
            </a:pPr>
            <a:r>
              <a:rPr sz="1200" b="1">
                <a:solidFill>
                  <a:srgbClr val="1F2540"/>
                </a:solidFill>
                <a:latin typeface="Arial"/>
              </a:rPr>
              <a:t>Commercial release: </a:t>
            </a:r>
            <a:r>
              <a:rPr sz="1200" b="0">
                <a:solidFill>
                  <a:srgbClr val="1F2540"/>
                </a:solidFill>
                <a:latin typeface="Arial"/>
              </a:rPr>
              <a:t>a commercially licensed face model (the InsightFace model files are for non-commercial use).</a:t>
            </a:r>
          </a:p>
          <a:p>
            <a:pPr algn="l" marL="164592" indent="-146304">
              <a:spcAft>
                <a:spcPts val="600"/>
              </a:spcAft>
              <a:buChar char="•"/>
            </a:pPr>
            <a:r>
              <a:rPr sz="1200" b="1">
                <a:solidFill>
                  <a:srgbClr val="1F2540"/>
                </a:solidFill>
                <a:latin typeface="Arial"/>
              </a:rPr>
              <a:t>Google verification, </a:t>
            </a:r>
            <a:r>
              <a:rPr sz="1200" b="0">
                <a:solidFill>
                  <a:srgbClr val="1F2540"/>
                </a:solidFill>
                <a:latin typeface="Arial"/>
              </a:rPr>
              <a:t>so the "unverified app" warning goes away.</a:t>
            </a:r>
          </a:p>
          <a:p>
            <a:pPr algn="l" marL="164592" indent="-146304">
              <a:spcAft>
                <a:spcPts val="400"/>
              </a:spcAft>
              <a:buChar char="•"/>
            </a:pPr>
            <a:r>
              <a:rPr sz="1200" b="1">
                <a:solidFill>
                  <a:srgbClr val="1F2540"/>
                </a:solidFill>
                <a:latin typeface="Arial"/>
              </a:rPr>
              <a:t>More sources: </a:t>
            </a:r>
            <a:r>
              <a:rPr sz="1200" b="0">
                <a:solidFill>
                  <a:srgbClr val="1F2540"/>
                </a:solidFill>
                <a:latin typeface="Arial"/>
              </a:rPr>
              <a:t>Google Photos shared albums, and video.</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82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endParaRPr>
              <a:latin typeface="Google Sans Flex Medium"/>
              <a:ea typeface="Google Sans Flex Medium"/>
              <a:cs typeface="Google Sans Flex Medium"/>
              <a:sym typeface="Google Sans Flex Medium"/>
            </a:endParaRPr>
            <a:r>
              <a:rPr lang="en-GB">
                <a:solidFill>
                  <a:srgbClr val="1F2540"/>
                </a:solidFill>
                <a:latin typeface="Google Sans Flex Medium"/>
                <a:ea typeface="Google Sans Flex Medium"/>
                <a:cs typeface="Google Sans Flex Medium"/>
                <a:sym typeface="Google Sans Flex Medium"/>
              </a:rPr>
              <a:t>: https://github.com/Khunapat/facefinder</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to 4 minutes)</a:t>
            </a:r>
            <a:endParaRPr>
              <a:latin typeface="Google Sans Flex Medium"/>
              <a:ea typeface="Google Sans Flex Medium"/>
              <a:cs typeface="Google Sans Flex Medium"/>
              <a:sym typeface="Google Sans Flex Medium"/>
            </a:endParaRPr>
            <a:r>
              <a:rPr lang="en-GB">
                <a:solidFill>
                  <a:srgbClr val="C01E1E"/>
                </a:solidFill>
                <a:latin typeface="Google Sans Flex Medium"/>
                <a:ea typeface="Google Sans Flex Medium"/>
                <a:cs typeface="Google Sans Flex Medium"/>
                <a:sym typeface="Google Sans Flex Medium"/>
              </a:rPr>
              <a:t>: [ADD VIDEO LINK]</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endParaRPr>
              <a:latin typeface="Google Sans Flex Medium"/>
              <a:ea typeface="Google Sans Flex Medium"/>
              <a:cs typeface="Google Sans Flex Medium"/>
              <a:sym typeface="Google Sans Flex Medium"/>
            </a:endParaRPr>
            <a:r>
              <a:rPr lang="en-GB">
                <a:solidFill>
                  <a:srgbClr val="1F2540"/>
                </a:solidFill>
                <a:latin typeface="Google Sans Flex Medium"/>
                <a:ea typeface="Google Sans Flex Medium"/>
                <a:cs typeface="Google Sans Flex Medium"/>
                <a:sym typeface="Google Sans Flex Medium"/>
              </a:rPr>
              <a:t>: https://facefinder-508213.web.app</a:t>
            </a: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Judge note"/>
          <p:cNvSpPr txBox="1"/>
          <p:nvPr/>
        </p:nvSpPr>
        <p:spPr>
          <a:xfrm>
            <a:off x="411480" y="2240280"/>
            <a:ext cx="832104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For judges</a:t>
            </a:r>
          </a:p>
          <a:p>
            <a:pPr algn="l">
              <a:spcAft>
                <a:spcPts val="400"/>
              </a:spcAft>
            </a:pPr>
            <a:r>
              <a:rPr sz="1200" b="0">
                <a:solidFill>
                  <a:srgbClr val="1F2540"/>
                </a:solidFill>
                <a:latin typeface="Arial"/>
              </a:rPr>
              <a:t>Open the app and sign in with Google. Google may show "Google hasn't verified this app": press Advanced, then Go to facefinder. Open the Sample album card (made-up people created with Gemini) and try Everyone, Find people, Sort and Cull photos.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