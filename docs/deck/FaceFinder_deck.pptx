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16.png"/><Relationship Id="rId7"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hyperlink" Target="https://github.com/Khunapat/facefinder" TargetMode="External"/><Relationship Id="rId6" Type="http://schemas.openxmlformats.org/officeDocument/2006/relationships/hyperlink" Target="https://youtu.be/1NW303-InI0" TargetMode="External"/><Relationship Id="rId7" Type="http://schemas.openxmlformats.org/officeDocument/2006/relationships/hyperlink" Target="https://facefinder-508213.web.app"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endParaRPr sz="1800">
              <a:latin typeface="Google Sans Flex"/>
              <a:ea typeface="Google Sans Flex"/>
              <a:cs typeface="Google Sans Flex"/>
              <a:sym typeface="Google Sans Flex"/>
            </a:endParaRPr>
            <a:r>
              <a:rPr lang="en-GB" sz="1800">
                <a:solidFill>
                  <a:srgbClr val="1F2540"/>
                </a:solidFill>
                <a:latin typeface="Google Sans Flex"/>
                <a:ea typeface="Google Sans Flex"/>
                <a:cs typeface="Google Sans Flex"/>
                <a:sym typeface="Google Sans Flex"/>
              </a:rPr>
              <a:t> Photism</a:t>
            </a: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endParaRPr sz="1800">
              <a:latin typeface="Google Sans Flex"/>
              <a:ea typeface="Google Sans Flex"/>
              <a:cs typeface="Google Sans Flex"/>
              <a:sym typeface="Google Sans Flex"/>
            </a:endParaRPr>
            <a:r>
              <a:rPr lang="en-GB" sz="1800">
                <a:solidFill>
                  <a:srgbClr val="1F2540"/>
                </a:solidFill>
                <a:latin typeface="Google Sans Flex"/>
                <a:ea typeface="Google Sans Flex"/>
                <a:cs typeface="Google Sans Flex"/>
                <a:sym typeface="Google Sans Flex"/>
              </a:rPr>
              <a:t> Khunapat Prapassornchaikul</a:t>
            </a: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endParaRPr sz="1800">
              <a:latin typeface="Google Sans Flex"/>
              <a:ea typeface="Google Sans Flex"/>
              <a:cs typeface="Google Sans Flex"/>
              <a:sym typeface="Google Sans Flex"/>
            </a:endParaRPr>
            <a:r>
              <a:rPr lang="en-GB" sz="1800">
                <a:solidFill>
                  <a:srgbClr val="1F2540"/>
                </a:solidFill>
                <a:latin typeface="Google Sans Flex"/>
                <a:ea typeface="Google Sans Flex"/>
                <a:cs typeface="Google Sans Flex"/>
                <a:sym typeface="Google Sans Flex"/>
              </a:rPr>
              <a:t> Media, Content &amp; Digital Experiences. FaceFinder turns one shared Google Drive event album into one folder per person, with Gemini picking and sorting the best photos.</a:t>
            </a: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Brief text"/>
          <p:cNvSpPr txBox="1"/>
          <p:nvPr/>
        </p:nvSpPr>
        <p:spPr>
          <a:xfrm>
            <a:off x="411480" y="1280160"/>
            <a:ext cx="4343400" cy="3566160"/>
          </a:xfrm>
          <a:prstGeom prst="rect">
            <a:avLst/>
          </a:prstGeom>
          <a:noFill/>
        </p:spPr>
        <p:txBody>
          <a:bodyPr wrap="square" anchor="t" lIns="0" rIns="0" tIns="0" bIns="0">
            <a:spAutoFit/>
          </a:bodyPr>
          <a:lstStyle/>
          <a:p>
            <a:pPr algn="l">
              <a:spcAft>
                <a:spcPts val="200"/>
              </a:spcAft>
            </a:pPr>
            <a:r>
              <a:rPr sz="1300" b="1">
                <a:solidFill>
                  <a:srgbClr val="D6336C"/>
                </a:solidFill>
                <a:latin typeface="Arial"/>
              </a:rPr>
              <a:t>The problem</a:t>
            </a:r>
          </a:p>
          <a:p>
            <a:pPr algn="l">
              <a:spcAft>
                <a:spcPts val="1200"/>
              </a:spcAft>
            </a:pPr>
            <a:r>
              <a:rPr sz="1300" b="0">
                <a:solidFill>
                  <a:srgbClr val="1F2540"/>
                </a:solidFill>
                <a:latin typeface="Arial"/>
              </a:rPr>
              <a:t>After an event, the photographer shares one Google Drive folder with hundreds of photos. Finding yourself, or sending friends their photos, means an hour of scrolling.</a:t>
            </a:r>
          </a:p>
          <a:p>
            <a:pPr algn="l">
              <a:spcAft>
                <a:spcPts val="200"/>
              </a:spcAft>
            </a:pPr>
            <a:r>
              <a:rPr sz="1300" b="1">
                <a:solidFill>
                  <a:srgbClr val="D6336C"/>
                </a:solidFill>
                <a:latin typeface="Arial"/>
              </a:rPr>
              <a:t>FaceFinder</a:t>
            </a:r>
          </a:p>
          <a:p>
            <a:pPr algn="l">
              <a:spcAft>
                <a:spcPts val="400"/>
              </a:spcAft>
            </a:pPr>
            <a:r>
              <a:rPr sz="1300" b="0">
                <a:solidFill>
                  <a:srgbClr val="1F2540"/>
                </a:solidFill>
                <a:latin typeface="Arial"/>
              </a:rPr>
              <a:t>Scan the album once. A face model groups faces into people; Gemini judges and describes each photo. Then find a person, keep the best shots, sort by description, and copy one folder per person into your Drive. The album is never changed.</a:t>
            </a:r>
          </a:p>
        </p:txBody>
      </p:sp>
      <p:pic>
        <p:nvPicPr>
          <p:cNvPr id="73" name="Live app screenshot" descr="everyone_live.png"/>
          <p:cNvPicPr>
            <a:picLocks noChangeAspect="1"/>
          </p:cNvPicPr>
          <p:nvPr/>
        </p:nvPicPr>
        <p:blipFill>
          <a:blip r:embed="rId4"/>
          <a:stretch>
            <a:fillRect/>
          </a:stretch>
        </p:blipFill>
        <p:spPr>
          <a:xfrm>
            <a:off x="4983480" y="1371600"/>
            <a:ext cx="3749039" cy="2145461"/>
          </a:xfrm>
          <a:prstGeom prst="rect">
            <a:avLst/>
          </a:prstGeom>
        </p:spPr>
      </p:pic>
      <p:sp>
        <p:nvSpPr>
          <p:cNvPr id="74" name="Screenshot caption"/>
          <p:cNvSpPr txBox="1"/>
          <p:nvPr/>
        </p:nvSpPr>
        <p:spPr>
          <a:xfrm>
            <a:off x="4983480" y="3590213"/>
            <a:ext cx="3749039" cy="457200"/>
          </a:xfrm>
          <a:prstGeom prst="rect">
            <a:avLst/>
          </a:prstGeom>
          <a:noFill/>
        </p:spPr>
        <p:txBody>
          <a:bodyPr wrap="square" anchor="t" lIns="0" rIns="0" tIns="0" bIns="0">
            <a:spAutoFit/>
          </a:bodyPr>
          <a:lstStyle/>
          <a:p>
            <a:pPr algn="l">
              <a:spcAft>
                <a:spcPts val="400"/>
              </a:spcAft>
            </a:pPr>
            <a:r>
              <a:rPr sz="1000" b="0">
                <a:solidFill>
                  <a:srgbClr val="5B6178"/>
                </a:solidFill>
                <a:latin typeface="Arial"/>
              </a:rPr>
              <a:t>The live app on the demo album. The people are made up, created with Gemini.</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endParaRPr sz="1600">
              <a:latin typeface="Google Sans Flex SemiBold"/>
              <a:ea typeface="Google Sans Flex SemiBold"/>
              <a:cs typeface="Google Sans Flex SemiBold"/>
              <a:sym typeface="Google Sans Flex SemiBold"/>
            </a:endParaRPr>
          </a:p>
        </p:txBody>
      </p:sp>
      <p:sp>
        <p:nvSpPr>
          <p:cNvPr id="80" name="Card 1"/>
          <p:cNvSpPr/>
          <p:nvPr/>
        </p:nvSpPr>
        <p:spPr>
          <a:xfrm>
            <a:off x="411480" y="1325880"/>
            <a:ext cx="2651760" cy="324612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ard 1 text"/>
          <p:cNvSpPr txBox="1"/>
          <p:nvPr/>
        </p:nvSpPr>
        <p:spPr>
          <a:xfrm>
            <a:off x="594360" y="1508760"/>
            <a:ext cx="2286000" cy="2926080"/>
          </a:xfrm>
          <a:prstGeom prst="rect">
            <a:avLst/>
          </a:prstGeom>
          <a:noFill/>
        </p:spPr>
        <p:txBody>
          <a:bodyPr wrap="square" anchor="t" lIns="0" rIns="0" tIns="0" bIns="0">
            <a:spAutoFit/>
          </a:bodyPr>
          <a:lstStyle/>
          <a:p>
            <a:pPr algn="l">
              <a:spcAft>
                <a:spcPts val="1000"/>
              </a:spcAft>
            </a:pPr>
            <a:r>
              <a:rPr sz="1500" b="1">
                <a:solidFill>
                  <a:srgbClr val="D6336C"/>
                </a:solidFill>
                <a:latin typeface="Arial"/>
              </a:rPr>
              <a:t>How is it different?</a:t>
            </a:r>
          </a:p>
          <a:p>
            <a:pPr algn="l">
              <a:spcAft>
                <a:spcPts val="400"/>
              </a:spcAft>
            </a:pPr>
            <a:r>
              <a:rPr sz="1300" b="0">
                <a:solidFill>
                  <a:srgbClr val="1F2540"/>
                </a:solidFill>
                <a:latin typeface="Arial"/>
              </a:rPr>
              <a:t>Event photos usually live in one shared Drive folder, with no face search and no culling. FaceFinder works on any shared Drive folder, for everyone who can open it, and gives back real Drive folders.</a:t>
            </a:r>
          </a:p>
        </p:txBody>
      </p:sp>
      <p:sp>
        <p:nvSpPr>
          <p:cNvPr id="82" name="Card 2"/>
          <p:cNvSpPr/>
          <p:nvPr/>
        </p:nvSpPr>
        <p:spPr>
          <a:xfrm>
            <a:off x="3246120" y="1325880"/>
            <a:ext cx="2651760" cy="324612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Card 2 text"/>
          <p:cNvSpPr txBox="1"/>
          <p:nvPr/>
        </p:nvSpPr>
        <p:spPr>
          <a:xfrm>
            <a:off x="3429000" y="1508760"/>
            <a:ext cx="2286000" cy="2926080"/>
          </a:xfrm>
          <a:prstGeom prst="rect">
            <a:avLst/>
          </a:prstGeom>
          <a:noFill/>
        </p:spPr>
        <p:txBody>
          <a:bodyPr wrap="square" anchor="t" lIns="0" rIns="0" tIns="0" bIns="0">
            <a:spAutoFit/>
          </a:bodyPr>
          <a:lstStyle/>
          <a:p>
            <a:pPr algn="l">
              <a:spcAft>
                <a:spcPts val="1000"/>
              </a:spcAft>
            </a:pPr>
            <a:r>
              <a:rPr sz="1500" b="1">
                <a:solidFill>
                  <a:srgbClr val="D6336C"/>
                </a:solidFill>
                <a:latin typeface="Arial"/>
              </a:rPr>
              <a:t>How does it solve the problem?</a:t>
            </a:r>
          </a:p>
          <a:p>
            <a:pPr algn="l">
              <a:spcAft>
                <a:spcPts val="400"/>
              </a:spcAft>
            </a:pPr>
            <a:r>
              <a:rPr sz="1300" b="0">
                <a:solidFill>
                  <a:srgbClr val="1F2540"/>
                </a:solidFill>
                <a:latin typeface="Arial"/>
              </a:rPr>
              <a:t>One scan per album. Name a face or upload a selfie to get that person's photos. Gemini suggests keepers with a reason, and sorts by description. One click copies it all to your Drive.</a:t>
            </a:r>
          </a:p>
        </p:txBody>
      </p:sp>
      <p:sp>
        <p:nvSpPr>
          <p:cNvPr id="84" name="Card 3"/>
          <p:cNvSpPr/>
          <p:nvPr/>
        </p:nvSpPr>
        <p:spPr>
          <a:xfrm>
            <a:off x="6080760" y="1325880"/>
            <a:ext cx="2651760" cy="324612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ard 3 text"/>
          <p:cNvSpPr txBox="1"/>
          <p:nvPr/>
        </p:nvSpPr>
        <p:spPr>
          <a:xfrm>
            <a:off x="6263640" y="1508760"/>
            <a:ext cx="2286000" cy="2926080"/>
          </a:xfrm>
          <a:prstGeom prst="rect">
            <a:avLst/>
          </a:prstGeom>
          <a:noFill/>
        </p:spPr>
        <p:txBody>
          <a:bodyPr wrap="square" anchor="t" lIns="0" rIns="0" tIns="0" bIns="0">
            <a:spAutoFit/>
          </a:bodyPr>
          <a:lstStyle/>
          <a:p>
            <a:pPr algn="l">
              <a:spcAft>
                <a:spcPts val="1000"/>
              </a:spcAft>
            </a:pPr>
            <a:r>
              <a:rPr sz="1500" b="1">
                <a:solidFill>
                  <a:srgbClr val="D6336C"/>
                </a:solidFill>
                <a:latin typeface="Arial"/>
              </a:rPr>
              <a:t>USP</a:t>
            </a:r>
          </a:p>
          <a:p>
            <a:pPr algn="l">
              <a:spcAft>
                <a:spcPts val="400"/>
              </a:spcAft>
            </a:pPr>
            <a:r>
              <a:rPr sz="1300" b="0">
                <a:solidFill>
                  <a:srgbClr val="1F2540"/>
                </a:solidFill>
                <a:latin typeface="Arial"/>
              </a:rPr>
              <a:t>Two AIs, each for its job: a face model decides who; Gemini decides how good and what is in it. Copy-only, no photo library kept, data deletable at any time. Works on a phone.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Feature 1"/>
          <p:cNvSpPr/>
          <p:nvPr/>
        </p:nvSpPr>
        <p:spPr>
          <a:xfrm>
            <a:off x="411480" y="1325880"/>
            <a:ext cx="2651760" cy="164592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9" name="Feature 1 icon" descr="cam-wave.png"/>
          <p:cNvPicPr>
            <a:picLocks noChangeAspect="1"/>
          </p:cNvPicPr>
          <p:nvPr/>
        </p:nvPicPr>
        <p:blipFill>
          <a:blip r:embed="rId5"/>
          <a:stretch>
            <a:fillRect/>
          </a:stretch>
        </p:blipFill>
        <p:spPr>
          <a:xfrm>
            <a:off x="548640" y="1508760"/>
            <a:ext cx="640080" cy="640080"/>
          </a:xfrm>
          <a:prstGeom prst="rect">
            <a:avLst/>
          </a:prstGeom>
        </p:spPr>
      </p:pic>
      <p:sp>
        <p:nvSpPr>
          <p:cNvPr id="90" name="Feature 1 text"/>
          <p:cNvSpPr txBox="1"/>
          <p:nvPr/>
        </p:nvSpPr>
        <p:spPr>
          <a:xfrm>
            <a:off x="1280160" y="1490472"/>
            <a:ext cx="1645920" cy="1371600"/>
          </a:xfrm>
          <a:prstGeom prst="rect">
            <a:avLst/>
          </a:prstGeom>
          <a:noFill/>
        </p:spPr>
        <p:txBody>
          <a:bodyPr wrap="square" anchor="t" lIns="0" rIns="0" tIns="0" bIns="0">
            <a:spAutoFit/>
          </a:bodyPr>
          <a:lstStyle/>
          <a:p>
            <a:pPr algn="l">
              <a:spcAft>
                <a:spcPts val="400"/>
              </a:spcAft>
            </a:pPr>
            <a:r>
              <a:rPr sz="1300" b="1">
                <a:solidFill>
                  <a:srgbClr val="D6336C"/>
                </a:solidFill>
                <a:latin typeface="Arial"/>
              </a:rPr>
              <a:t>Everyone</a:t>
            </a:r>
          </a:p>
          <a:p>
            <a:pPr algn="l">
              <a:spcAft>
                <a:spcPts val="400"/>
              </a:spcAft>
            </a:pPr>
            <a:r>
              <a:rPr sz="1100" b="0">
                <a:solidFill>
                  <a:srgbClr val="1F2540"/>
                </a:solidFill>
                <a:latin typeface="Arial"/>
              </a:rPr>
              <a:t>Every face grouped into people. Type a name to make that person's folder.</a:t>
            </a:r>
          </a:p>
        </p:txBody>
      </p:sp>
      <p:sp>
        <p:nvSpPr>
          <p:cNvPr id="91" name="Feature 2"/>
          <p:cNvSpPr/>
          <p:nvPr/>
        </p:nvSpPr>
        <p:spPr>
          <a:xfrm>
            <a:off x="3246120" y="1325880"/>
            <a:ext cx="2651760" cy="164592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2" name="Feature 2 icon" descr="cam-search.png"/>
          <p:cNvPicPr>
            <a:picLocks noChangeAspect="1"/>
          </p:cNvPicPr>
          <p:nvPr/>
        </p:nvPicPr>
        <p:blipFill>
          <a:blip r:embed="rId6"/>
          <a:stretch>
            <a:fillRect/>
          </a:stretch>
        </p:blipFill>
        <p:spPr>
          <a:xfrm>
            <a:off x="3383280" y="1508760"/>
            <a:ext cx="640080" cy="640080"/>
          </a:xfrm>
          <a:prstGeom prst="rect">
            <a:avLst/>
          </a:prstGeom>
        </p:spPr>
      </p:pic>
      <p:sp>
        <p:nvSpPr>
          <p:cNvPr id="93" name="Feature 2 text"/>
          <p:cNvSpPr txBox="1"/>
          <p:nvPr/>
        </p:nvSpPr>
        <p:spPr>
          <a:xfrm>
            <a:off x="4114800" y="1490472"/>
            <a:ext cx="1645920" cy="1371600"/>
          </a:xfrm>
          <a:prstGeom prst="rect">
            <a:avLst/>
          </a:prstGeom>
          <a:noFill/>
        </p:spPr>
        <p:txBody>
          <a:bodyPr wrap="square" anchor="t" lIns="0" rIns="0" tIns="0" bIns="0">
            <a:spAutoFit/>
          </a:bodyPr>
          <a:lstStyle/>
          <a:p>
            <a:pPr algn="l">
              <a:spcAft>
                <a:spcPts val="400"/>
              </a:spcAft>
            </a:pPr>
            <a:r>
              <a:rPr sz="1300" b="1">
                <a:solidFill>
                  <a:srgbClr val="D6336C"/>
                </a:solidFill>
                <a:latin typeface="Arial"/>
              </a:rPr>
              <a:t>Find people + Best 10</a:t>
            </a:r>
          </a:p>
          <a:p>
            <a:pPr algn="l">
              <a:spcAft>
                <a:spcPts val="400"/>
              </a:spcAft>
            </a:pPr>
            <a:r>
              <a:rPr sz="1100" b="0">
                <a:solidFill>
                  <a:srgbClr val="1F2540"/>
                </a:solidFill>
                <a:latin typeface="Arial"/>
              </a:rPr>
              <a:t>One selfie finds a person. Best 10 picks their best shots, each with Gemini's reason.</a:t>
            </a:r>
          </a:p>
        </p:txBody>
      </p:sp>
      <p:sp>
        <p:nvSpPr>
          <p:cNvPr id="94" name="Feature 3"/>
          <p:cNvSpPr/>
          <p:nvPr/>
        </p:nvSpPr>
        <p:spPr>
          <a:xfrm>
            <a:off x="6080760" y="1325880"/>
            <a:ext cx="2651760" cy="164592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5" name="Feature 3 icon" descr="cam-photo.png"/>
          <p:cNvPicPr>
            <a:picLocks noChangeAspect="1"/>
          </p:cNvPicPr>
          <p:nvPr/>
        </p:nvPicPr>
        <p:blipFill>
          <a:blip r:embed="rId7"/>
          <a:stretch>
            <a:fillRect/>
          </a:stretch>
        </p:blipFill>
        <p:spPr>
          <a:xfrm>
            <a:off x="6217920" y="1508760"/>
            <a:ext cx="640080" cy="640080"/>
          </a:xfrm>
          <a:prstGeom prst="rect">
            <a:avLst/>
          </a:prstGeom>
        </p:spPr>
      </p:pic>
      <p:sp>
        <p:nvSpPr>
          <p:cNvPr id="96" name="Feature 3 text"/>
          <p:cNvSpPr txBox="1"/>
          <p:nvPr/>
        </p:nvSpPr>
        <p:spPr>
          <a:xfrm>
            <a:off x="6949440" y="1490472"/>
            <a:ext cx="1645920" cy="1371600"/>
          </a:xfrm>
          <a:prstGeom prst="rect">
            <a:avLst/>
          </a:prstGeom>
          <a:noFill/>
        </p:spPr>
        <p:txBody>
          <a:bodyPr wrap="square" anchor="t" lIns="0" rIns="0" tIns="0" bIns="0">
            <a:spAutoFit/>
          </a:bodyPr>
          <a:lstStyle/>
          <a:p>
            <a:pPr algn="l">
              <a:spcAft>
                <a:spcPts val="400"/>
              </a:spcAft>
            </a:pPr>
            <a:r>
              <a:rPr sz="1300" b="1">
                <a:solidFill>
                  <a:srgbClr val="D6336C"/>
                </a:solidFill>
                <a:latin typeface="Arial"/>
              </a:rPr>
              <a:t>Cull photos</a:t>
            </a:r>
          </a:p>
          <a:p>
            <a:pPr algn="l">
              <a:spcAft>
                <a:spcPts val="400"/>
              </a:spcAft>
            </a:pPr>
            <a:r>
              <a:rPr sz="1100" b="0">
                <a:solidFill>
                  <a:srgbClr val="1F2540"/>
                </a:solidFill>
                <a:latin typeface="Arial"/>
              </a:rPr>
              <a:t>Keep, Review or Rejected, with reasons: blur, eyes closed, weaker shots of a burst.</a:t>
            </a:r>
          </a:p>
        </p:txBody>
      </p:sp>
      <p:sp>
        <p:nvSpPr>
          <p:cNvPr id="97" name="Feature 4"/>
          <p:cNvSpPr/>
          <p:nvPr/>
        </p:nvSpPr>
        <p:spPr>
          <a:xfrm>
            <a:off x="411480" y="3108960"/>
            <a:ext cx="2651760" cy="164592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8" name="Feature 4 icon" descr="cam-point.png"/>
          <p:cNvPicPr>
            <a:picLocks noChangeAspect="1"/>
          </p:cNvPicPr>
          <p:nvPr/>
        </p:nvPicPr>
        <p:blipFill>
          <a:blip r:embed="rId8"/>
          <a:stretch>
            <a:fillRect/>
          </a:stretch>
        </p:blipFill>
        <p:spPr>
          <a:xfrm>
            <a:off x="548640" y="3291840"/>
            <a:ext cx="640080" cy="640080"/>
          </a:xfrm>
          <a:prstGeom prst="rect">
            <a:avLst/>
          </a:prstGeom>
        </p:spPr>
      </p:pic>
      <p:sp>
        <p:nvSpPr>
          <p:cNvPr id="99" name="Feature 4 text"/>
          <p:cNvSpPr txBox="1"/>
          <p:nvPr/>
        </p:nvSpPr>
        <p:spPr>
          <a:xfrm>
            <a:off x="1280160" y="3273552"/>
            <a:ext cx="1645920" cy="1371600"/>
          </a:xfrm>
          <a:prstGeom prst="rect">
            <a:avLst/>
          </a:prstGeom>
          <a:noFill/>
        </p:spPr>
        <p:txBody>
          <a:bodyPr wrap="square" anchor="t" lIns="0" rIns="0" tIns="0" bIns="0">
            <a:spAutoFit/>
          </a:bodyPr>
          <a:lstStyle/>
          <a:p>
            <a:pPr algn="l">
              <a:spcAft>
                <a:spcPts val="400"/>
              </a:spcAft>
            </a:pPr>
            <a:r>
              <a:rPr sz="1300" b="1">
                <a:solidFill>
                  <a:srgbClr val="D6336C"/>
                </a:solidFill>
                <a:latin typeface="Arial"/>
              </a:rPr>
              <a:t>Sort by description</a:t>
            </a:r>
          </a:p>
          <a:p>
            <a:pPr algn="l">
              <a:spcAft>
                <a:spcPts val="400"/>
              </a:spcAft>
            </a:pPr>
            <a:r>
              <a:rPr sz="1100" b="0">
                <a:solidFill>
                  <a:srgbClr val="1F2540"/>
                </a:solidFill>
                <a:latin typeface="Arial"/>
              </a:rPr>
              <a:t>Describe a folder in plain words ("throwing caps"). Gemini fills it and suggests folders.</a:t>
            </a:r>
          </a:p>
        </p:txBody>
      </p:sp>
      <p:sp>
        <p:nvSpPr>
          <p:cNvPr id="100" name="Feature 5"/>
          <p:cNvSpPr/>
          <p:nvPr/>
        </p:nvSpPr>
        <p:spPr>
          <a:xfrm>
            <a:off x="3246120" y="3108960"/>
            <a:ext cx="2651760" cy="164592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1" name="Feature 5 icon" descr="cam-celebrate.png"/>
          <p:cNvPicPr>
            <a:picLocks noChangeAspect="1"/>
          </p:cNvPicPr>
          <p:nvPr/>
        </p:nvPicPr>
        <p:blipFill>
          <a:blip r:embed="rId9"/>
          <a:stretch>
            <a:fillRect/>
          </a:stretch>
        </p:blipFill>
        <p:spPr>
          <a:xfrm>
            <a:off x="3383280" y="3291840"/>
            <a:ext cx="640080" cy="640080"/>
          </a:xfrm>
          <a:prstGeom prst="rect">
            <a:avLst/>
          </a:prstGeom>
        </p:spPr>
      </p:pic>
      <p:sp>
        <p:nvSpPr>
          <p:cNvPr id="102" name="Feature 5 text"/>
          <p:cNvSpPr txBox="1"/>
          <p:nvPr/>
        </p:nvSpPr>
        <p:spPr>
          <a:xfrm>
            <a:off x="4114800" y="3273552"/>
            <a:ext cx="1645920" cy="1371600"/>
          </a:xfrm>
          <a:prstGeom prst="rect">
            <a:avLst/>
          </a:prstGeom>
          <a:noFill/>
        </p:spPr>
        <p:txBody>
          <a:bodyPr wrap="square" anchor="t" lIns="0" rIns="0" tIns="0" bIns="0">
            <a:spAutoFit/>
          </a:bodyPr>
          <a:lstStyle/>
          <a:p>
            <a:pPr algn="l">
              <a:spcAft>
                <a:spcPts val="400"/>
              </a:spcAft>
            </a:pPr>
            <a:r>
              <a:rPr sz="1300" b="1">
                <a:solidFill>
                  <a:srgbClr val="D6336C"/>
                </a:solidFill>
                <a:latin typeface="Arial"/>
              </a:rPr>
              <a:t>Export to Drive</a:t>
            </a:r>
          </a:p>
          <a:p>
            <a:pPr algn="l">
              <a:spcAft>
                <a:spcPts val="400"/>
              </a:spcAft>
            </a:pPr>
            <a:r>
              <a:rPr sz="1100" b="0">
                <a:solidFill>
                  <a:srgbClr val="1F2540"/>
                </a:solidFill>
                <a:latin typeface="Arial"/>
              </a:rPr>
              <a:t>One folder per person in your own Drive. Copies are made inside Google; never duplicated.</a:t>
            </a:r>
          </a:p>
        </p:txBody>
      </p:sp>
      <p:sp>
        <p:nvSpPr>
          <p:cNvPr id="103" name="Feature 6"/>
          <p:cNvSpPr/>
          <p:nvPr/>
        </p:nvSpPr>
        <p:spPr>
          <a:xfrm>
            <a:off x="6080760" y="3108960"/>
            <a:ext cx="2651760" cy="164592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4" name="Feature 6 icon" descr="cam-stand.png"/>
          <p:cNvPicPr>
            <a:picLocks noChangeAspect="1"/>
          </p:cNvPicPr>
          <p:nvPr/>
        </p:nvPicPr>
        <p:blipFill>
          <a:blip r:embed="rId10"/>
          <a:stretch>
            <a:fillRect/>
          </a:stretch>
        </p:blipFill>
        <p:spPr>
          <a:xfrm>
            <a:off x="6217920" y="3291840"/>
            <a:ext cx="640080" cy="640080"/>
          </a:xfrm>
          <a:prstGeom prst="rect">
            <a:avLst/>
          </a:prstGeom>
        </p:spPr>
      </p:pic>
      <p:sp>
        <p:nvSpPr>
          <p:cNvPr id="105" name="Feature 6 text"/>
          <p:cNvSpPr txBox="1"/>
          <p:nvPr/>
        </p:nvSpPr>
        <p:spPr>
          <a:xfrm>
            <a:off x="6949440" y="3273552"/>
            <a:ext cx="1645920" cy="1371600"/>
          </a:xfrm>
          <a:prstGeom prst="rect">
            <a:avLst/>
          </a:prstGeom>
          <a:noFill/>
        </p:spPr>
        <p:txBody>
          <a:bodyPr wrap="square" anchor="t" lIns="0" rIns="0" tIns="0" bIns="0">
            <a:spAutoFit/>
          </a:bodyPr>
          <a:lstStyle/>
          <a:p>
            <a:pPr algn="l">
              <a:spcAft>
                <a:spcPts val="400"/>
              </a:spcAft>
            </a:pPr>
            <a:r>
              <a:rPr sz="1300" b="1">
                <a:solidFill>
                  <a:srgbClr val="D6336C"/>
                </a:solidFill>
                <a:latin typeface="Arial"/>
              </a:rPr>
              <a:t>Control and privacy</a:t>
            </a:r>
          </a:p>
          <a:p>
            <a:pPr algn="l">
              <a:spcAft>
                <a:spcPts val="400"/>
              </a:spcAft>
            </a:pPr>
            <a:r>
              <a:rPr sz="1100" b="0">
                <a:solidFill>
                  <a:srgbClr val="1F2540"/>
                </a:solidFill>
                <a:latin typeface="Arial"/>
              </a:rPr>
              <a:t>Choose photos by day or by hand, stop and resume. See what is kept, delete it any time.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Step 1"/>
          <p:cNvSpPr/>
          <p:nvPr/>
        </p:nvSpPr>
        <p:spPr>
          <a:xfrm>
            <a:off x="411480" y="1325880"/>
            <a:ext cx="2651760" cy="12344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Step 1 number"/>
          <p:cNvSpPr/>
          <p:nvPr/>
        </p:nvSpPr>
        <p:spPr>
          <a:xfrm>
            <a:off x="548640" y="1463039"/>
            <a:ext cx="384048" cy="384048"/>
          </a:xfrm>
          <a:prstGeom prst="ellipse">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98" name="Step 1 text"/>
          <p:cNvSpPr txBox="1"/>
          <p:nvPr/>
        </p:nvSpPr>
        <p:spPr>
          <a:xfrm>
            <a:off x="1051560" y="1463039"/>
            <a:ext cx="1920240" cy="1005840"/>
          </a:xfrm>
          <a:prstGeom prst="rect">
            <a:avLst/>
          </a:prstGeom>
          <a:noFill/>
        </p:spPr>
        <p:txBody>
          <a:bodyPr wrap="square" anchor="t" lIns="0" rIns="0" tIns="0" bIns="0">
            <a:spAutoFit/>
          </a:bodyPr>
          <a:lstStyle/>
          <a:p>
            <a:pPr algn="l">
              <a:spcAft>
                <a:spcPts val="300"/>
              </a:spcAft>
            </a:pPr>
            <a:r>
              <a:rPr sz="1300" b="1">
                <a:solidFill>
                  <a:srgbClr val="1F2540"/>
                </a:solidFill>
                <a:latin typeface="Arial"/>
              </a:rPr>
              <a:t>Sign in with Google</a:t>
            </a:r>
          </a:p>
          <a:p>
            <a:pPr algn="l">
              <a:spcAft>
                <a:spcPts val="400"/>
              </a:spcAft>
            </a:pPr>
            <a:r>
              <a:rPr sz="1100" b="0">
                <a:solidFill>
                  <a:srgbClr val="5B6178"/>
                </a:solidFill>
                <a:latin typeface="Arial"/>
              </a:rPr>
              <a:t>Reads Drive with the user's own permission</a:t>
            </a:r>
          </a:p>
        </p:txBody>
      </p:sp>
      <p:sp>
        <p:nvSpPr>
          <p:cNvPr id="99" name="Step 2"/>
          <p:cNvSpPr/>
          <p:nvPr/>
        </p:nvSpPr>
        <p:spPr>
          <a:xfrm>
            <a:off x="3246120" y="1325880"/>
            <a:ext cx="2651760" cy="12344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Step 2 number"/>
          <p:cNvSpPr/>
          <p:nvPr/>
        </p:nvSpPr>
        <p:spPr>
          <a:xfrm>
            <a:off x="3383279" y="1463039"/>
            <a:ext cx="384048" cy="384048"/>
          </a:xfrm>
          <a:prstGeom prst="ellipse">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01" name="Step 2 text"/>
          <p:cNvSpPr txBox="1"/>
          <p:nvPr/>
        </p:nvSpPr>
        <p:spPr>
          <a:xfrm>
            <a:off x="3886200" y="1463039"/>
            <a:ext cx="1920240" cy="1005840"/>
          </a:xfrm>
          <a:prstGeom prst="rect">
            <a:avLst/>
          </a:prstGeom>
          <a:noFill/>
        </p:spPr>
        <p:txBody>
          <a:bodyPr wrap="square" anchor="t" lIns="0" rIns="0" tIns="0" bIns="0">
            <a:spAutoFit/>
          </a:bodyPr>
          <a:lstStyle/>
          <a:p>
            <a:pPr algn="l">
              <a:spcAft>
                <a:spcPts val="300"/>
              </a:spcAft>
            </a:pPr>
            <a:r>
              <a:rPr sz="1300" b="1">
                <a:solidFill>
                  <a:srgbClr val="1F2540"/>
                </a:solidFill>
                <a:latin typeface="Arial"/>
              </a:rPr>
              <a:t>Paste a Drive folder link</a:t>
            </a:r>
          </a:p>
          <a:p>
            <a:pPr algn="l">
              <a:spcAft>
                <a:spcPts val="400"/>
              </a:spcAft>
            </a:pPr>
            <a:r>
              <a:rPr sz="1100" b="0">
                <a:solidFill>
                  <a:srgbClr val="5B6178"/>
                </a:solidFill>
                <a:latin typeface="Arial"/>
              </a:rPr>
              <a:t>Private folder? Clear help to request access</a:t>
            </a:r>
          </a:p>
        </p:txBody>
      </p:sp>
      <p:sp>
        <p:nvSpPr>
          <p:cNvPr id="102" name="Step 3"/>
          <p:cNvSpPr/>
          <p:nvPr/>
        </p:nvSpPr>
        <p:spPr>
          <a:xfrm>
            <a:off x="6080760" y="1325880"/>
            <a:ext cx="2651760" cy="12344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Step 3 number"/>
          <p:cNvSpPr/>
          <p:nvPr/>
        </p:nvSpPr>
        <p:spPr>
          <a:xfrm>
            <a:off x="6217920" y="1463039"/>
            <a:ext cx="384048" cy="384048"/>
          </a:xfrm>
          <a:prstGeom prst="ellipse">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04" name="Step 3 text"/>
          <p:cNvSpPr txBox="1"/>
          <p:nvPr/>
        </p:nvSpPr>
        <p:spPr>
          <a:xfrm>
            <a:off x="6720840" y="1463039"/>
            <a:ext cx="1920240" cy="1005840"/>
          </a:xfrm>
          <a:prstGeom prst="rect">
            <a:avLst/>
          </a:prstGeom>
          <a:noFill/>
        </p:spPr>
        <p:txBody>
          <a:bodyPr wrap="square" anchor="t" lIns="0" rIns="0" tIns="0" bIns="0">
            <a:spAutoFit/>
          </a:bodyPr>
          <a:lstStyle/>
          <a:p>
            <a:pPr algn="l">
              <a:spcAft>
                <a:spcPts val="300"/>
              </a:spcAft>
            </a:pPr>
            <a:r>
              <a:rPr sz="1300" b="1">
                <a:solidFill>
                  <a:srgbClr val="1F2540"/>
                </a:solidFill>
                <a:latin typeface="Arial"/>
              </a:rPr>
              <a:t>Choose photos</a:t>
            </a:r>
          </a:p>
          <a:p>
            <a:pPr algn="l">
              <a:spcAft>
                <a:spcPts val="400"/>
              </a:spcAft>
            </a:pPr>
            <a:r>
              <a:rPr sz="1100" b="0">
                <a:solidFill>
                  <a:srgbClr val="5B6178"/>
                </a:solidFill>
                <a:latin typeface="Arial"/>
              </a:rPr>
              <a:t>All, by day, or by hand</a:t>
            </a:r>
          </a:p>
        </p:txBody>
      </p:sp>
      <p:sp>
        <p:nvSpPr>
          <p:cNvPr id="105" name="Step 4"/>
          <p:cNvSpPr/>
          <p:nvPr/>
        </p:nvSpPr>
        <p:spPr>
          <a:xfrm>
            <a:off x="6080760" y="3017520"/>
            <a:ext cx="2651760" cy="12344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Step 4 number"/>
          <p:cNvSpPr/>
          <p:nvPr/>
        </p:nvSpPr>
        <p:spPr>
          <a:xfrm>
            <a:off x="6217920" y="3154679"/>
            <a:ext cx="384048" cy="384048"/>
          </a:xfrm>
          <a:prstGeom prst="ellipse">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4</a:t>
            </a:r>
          </a:p>
        </p:txBody>
      </p:sp>
      <p:sp>
        <p:nvSpPr>
          <p:cNvPr id="107" name="Step 4 text"/>
          <p:cNvSpPr txBox="1"/>
          <p:nvPr/>
        </p:nvSpPr>
        <p:spPr>
          <a:xfrm>
            <a:off x="6720840" y="3154679"/>
            <a:ext cx="1920240" cy="1005840"/>
          </a:xfrm>
          <a:prstGeom prst="rect">
            <a:avLst/>
          </a:prstGeom>
          <a:noFill/>
        </p:spPr>
        <p:txBody>
          <a:bodyPr wrap="square" anchor="t" lIns="0" rIns="0" tIns="0" bIns="0">
            <a:spAutoFit/>
          </a:bodyPr>
          <a:lstStyle/>
          <a:p>
            <a:pPr algn="l">
              <a:spcAft>
                <a:spcPts val="300"/>
              </a:spcAft>
            </a:pPr>
            <a:r>
              <a:rPr sz="1300" b="1">
                <a:solidFill>
                  <a:srgbClr val="1F2540"/>
                </a:solidFill>
                <a:latin typeface="Arial"/>
              </a:rPr>
              <a:t>Scan once</a:t>
            </a:r>
          </a:p>
          <a:p>
            <a:pPr algn="l">
              <a:spcAft>
                <a:spcPts val="400"/>
              </a:spcAft>
            </a:pPr>
            <a:r>
              <a:rPr sz="1100" b="0">
                <a:solidFill>
                  <a:srgbClr val="5B6178"/>
                </a:solidFill>
                <a:latin typeface="Arial"/>
              </a:rPr>
              <a:t>InsightFace detects and matches faces; Gemini writes one note per photo</a:t>
            </a:r>
          </a:p>
        </p:txBody>
      </p:sp>
      <p:sp>
        <p:nvSpPr>
          <p:cNvPr id="108" name="Step 5"/>
          <p:cNvSpPr/>
          <p:nvPr/>
        </p:nvSpPr>
        <p:spPr>
          <a:xfrm>
            <a:off x="3246120" y="3017520"/>
            <a:ext cx="2651760" cy="12344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Step 5 number"/>
          <p:cNvSpPr/>
          <p:nvPr/>
        </p:nvSpPr>
        <p:spPr>
          <a:xfrm>
            <a:off x="3383279" y="3154679"/>
            <a:ext cx="384048" cy="384048"/>
          </a:xfrm>
          <a:prstGeom prst="ellipse">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5</a:t>
            </a:r>
          </a:p>
        </p:txBody>
      </p:sp>
      <p:sp>
        <p:nvSpPr>
          <p:cNvPr id="110" name="Step 5 text"/>
          <p:cNvSpPr txBox="1"/>
          <p:nvPr/>
        </p:nvSpPr>
        <p:spPr>
          <a:xfrm>
            <a:off x="3886200" y="3154679"/>
            <a:ext cx="1920240" cy="1005840"/>
          </a:xfrm>
          <a:prstGeom prst="rect">
            <a:avLst/>
          </a:prstGeom>
          <a:noFill/>
        </p:spPr>
        <p:txBody>
          <a:bodyPr wrap="square" anchor="t" lIns="0" rIns="0" tIns="0" bIns="0">
            <a:spAutoFit/>
          </a:bodyPr>
          <a:lstStyle/>
          <a:p>
            <a:pPr algn="l">
              <a:spcAft>
                <a:spcPts val="300"/>
              </a:spcAft>
            </a:pPr>
            <a:r>
              <a:rPr sz="1300" b="1">
                <a:solidFill>
                  <a:srgbClr val="1F2540"/>
                </a:solidFill>
                <a:latin typeface="Arial"/>
              </a:rPr>
              <a:t>Work on the album</a:t>
            </a:r>
          </a:p>
          <a:p>
            <a:pPr algn="l">
              <a:spcAft>
                <a:spcPts val="400"/>
              </a:spcAft>
            </a:pPr>
            <a:r>
              <a:rPr sz="1100" b="0">
                <a:solidFill>
                  <a:srgbClr val="5B6178"/>
                </a:solidFill>
                <a:latin typeface="Arial"/>
              </a:rPr>
              <a:t>Everyone, Find people, Cull, Sort</a:t>
            </a:r>
          </a:p>
        </p:txBody>
      </p:sp>
      <p:sp>
        <p:nvSpPr>
          <p:cNvPr id="111" name="Step 6"/>
          <p:cNvSpPr/>
          <p:nvPr/>
        </p:nvSpPr>
        <p:spPr>
          <a:xfrm>
            <a:off x="411480" y="3017520"/>
            <a:ext cx="2651760" cy="12344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Step 6 number"/>
          <p:cNvSpPr/>
          <p:nvPr/>
        </p:nvSpPr>
        <p:spPr>
          <a:xfrm>
            <a:off x="548640" y="3154679"/>
            <a:ext cx="384048" cy="384048"/>
          </a:xfrm>
          <a:prstGeom prst="ellipse">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6</a:t>
            </a:r>
          </a:p>
        </p:txBody>
      </p:sp>
      <p:sp>
        <p:nvSpPr>
          <p:cNvPr id="113" name="Step 6 text"/>
          <p:cNvSpPr txBox="1"/>
          <p:nvPr/>
        </p:nvSpPr>
        <p:spPr>
          <a:xfrm>
            <a:off x="1051560" y="3154679"/>
            <a:ext cx="1920240" cy="1005840"/>
          </a:xfrm>
          <a:prstGeom prst="rect">
            <a:avLst/>
          </a:prstGeom>
          <a:noFill/>
        </p:spPr>
        <p:txBody>
          <a:bodyPr wrap="square" anchor="t" lIns="0" rIns="0" tIns="0" bIns="0">
            <a:spAutoFit/>
          </a:bodyPr>
          <a:lstStyle/>
          <a:p>
            <a:pPr algn="l">
              <a:spcAft>
                <a:spcPts val="300"/>
              </a:spcAft>
            </a:pPr>
            <a:r>
              <a:rPr sz="1300" b="1">
                <a:solidFill>
                  <a:srgbClr val="1F2540"/>
                </a:solidFill>
                <a:latin typeface="Arial"/>
              </a:rPr>
              <a:t>Export to Drive</a:t>
            </a:r>
          </a:p>
          <a:p>
            <a:pPr algn="l">
              <a:spcAft>
                <a:spcPts val="400"/>
              </a:spcAft>
            </a:pPr>
            <a:r>
              <a:rPr sz="1100" b="0">
                <a:solidFill>
                  <a:srgbClr val="5B6178"/>
                </a:solidFill>
                <a:latin typeface="Arial"/>
              </a:rPr>
              <a:t>Copies, one folder per person</a:t>
            </a:r>
          </a:p>
        </p:txBody>
      </p:sp>
      <p:sp>
        <p:nvSpPr>
          <p:cNvPr id="114" name="Right Arrow 113"/>
          <p:cNvSpPr/>
          <p:nvPr/>
        </p:nvSpPr>
        <p:spPr>
          <a:xfrm>
            <a:off x="3063240" y="1847088"/>
            <a:ext cx="182880" cy="182880"/>
          </a:xfrm>
          <a:prstGeom prst="rightArrow">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ight Arrow 114"/>
          <p:cNvSpPr/>
          <p:nvPr/>
        </p:nvSpPr>
        <p:spPr>
          <a:xfrm>
            <a:off x="5897880" y="1847088"/>
            <a:ext cx="182880" cy="182880"/>
          </a:xfrm>
          <a:prstGeom prst="rightArrow">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Left Arrow 115"/>
          <p:cNvSpPr/>
          <p:nvPr/>
        </p:nvSpPr>
        <p:spPr>
          <a:xfrm>
            <a:off x="5897880" y="3538728"/>
            <a:ext cx="182880" cy="182880"/>
          </a:xfrm>
          <a:prstGeom prst="leftArrow">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Left Arrow 116"/>
          <p:cNvSpPr/>
          <p:nvPr/>
        </p:nvSpPr>
        <p:spPr>
          <a:xfrm>
            <a:off x="3063240" y="3538728"/>
            <a:ext cx="182880" cy="182880"/>
          </a:xfrm>
          <a:prstGeom prst="leftArrow">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Down Arrow 117"/>
          <p:cNvSpPr/>
          <p:nvPr/>
        </p:nvSpPr>
        <p:spPr>
          <a:xfrm>
            <a:off x="7315200" y="2606040"/>
            <a:ext cx="182880" cy="365760"/>
          </a:xfrm>
          <a:prstGeom prst="downArrow">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Users line"/>
          <p:cNvSpPr txBox="1"/>
          <p:nvPr/>
        </p:nvSpPr>
        <p:spPr>
          <a:xfrm>
            <a:off x="411480" y="4389120"/>
            <a:ext cx="8321040" cy="457200"/>
          </a:xfrm>
          <a:prstGeom prst="rect">
            <a:avLst/>
          </a:prstGeom>
          <a:noFill/>
        </p:spPr>
        <p:txBody>
          <a:bodyPr wrap="square" anchor="t" lIns="0" rIns="0" tIns="0" bIns="0">
            <a:spAutoFit/>
          </a:bodyPr>
          <a:lstStyle/>
          <a:p>
            <a:pPr algn="l">
              <a:spcAft>
                <a:spcPts val="400"/>
              </a:spcAft>
            </a:pPr>
            <a:r>
              <a:rPr sz="1200" b="1">
                <a:solidFill>
                  <a:srgbClr val="5B6178"/>
                </a:solidFill>
                <a:latin typeface="Arial"/>
              </a:rPr>
              <a:t>Who uses it: </a:t>
            </a:r>
            <a:r>
              <a:rPr sz="1200" b="0">
                <a:solidFill>
                  <a:srgbClr val="5B6178"/>
                </a:solidFill>
                <a:latin typeface="Arial"/>
              </a:rPr>
              <a:t>the photographer culls and sorts; guests find themselves; friends share each person's folder.</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pic>
        <p:nvPicPr>
          <p:cNvPr id="104" name="Phone 1" descr="phone_start.png"/>
          <p:cNvPicPr>
            <a:picLocks noChangeAspect="1"/>
          </p:cNvPicPr>
          <p:nvPr/>
        </p:nvPicPr>
        <p:blipFill>
          <a:blip r:embed="rId5"/>
          <a:stretch>
            <a:fillRect/>
          </a:stretch>
        </p:blipFill>
        <p:spPr>
          <a:xfrm>
            <a:off x="411480" y="1234440"/>
            <a:ext cx="1645920" cy="3291840"/>
          </a:xfrm>
          <a:prstGeom prst="rect">
            <a:avLst/>
          </a:prstGeom>
          <a:ln w="9525">
            <a:solidFill>
              <a:srgbClr val="D9DBE4"/>
            </a:solidFill>
          </a:ln>
        </p:spPr>
      </p:pic>
      <p:sp>
        <p:nvSpPr>
          <p:cNvPr id="105" name="Phone 1 caption"/>
          <p:cNvSpPr txBox="1"/>
          <p:nvPr/>
        </p:nvSpPr>
        <p:spPr>
          <a:xfrm>
            <a:off x="137160" y="4544568"/>
            <a:ext cx="2194560" cy="365760"/>
          </a:xfrm>
          <a:prstGeom prst="rect">
            <a:avLst/>
          </a:prstGeom>
          <a:noFill/>
        </p:spPr>
        <p:txBody>
          <a:bodyPr wrap="square" anchor="t" lIns="0" rIns="0" tIns="0" bIns="0">
            <a:spAutoFit/>
          </a:bodyPr>
          <a:lstStyle/>
          <a:p>
            <a:pPr algn="ctr">
              <a:spcAft>
                <a:spcPts val="400"/>
              </a:spcAft>
            </a:pPr>
            <a:r>
              <a:rPr sz="1100" b="0">
                <a:solidFill>
                  <a:srgbClr val="5B6178"/>
                </a:solidFill>
                <a:latin typeface="Arial"/>
              </a:rPr>
              <a:t>Start page</a:t>
            </a:r>
          </a:p>
        </p:txBody>
      </p:sp>
      <p:pic>
        <p:nvPicPr>
          <p:cNvPr id="106" name="Phone 2" descr="phone_menu_c.png"/>
          <p:cNvPicPr>
            <a:picLocks noChangeAspect="1"/>
          </p:cNvPicPr>
          <p:nvPr/>
        </p:nvPicPr>
        <p:blipFill>
          <a:blip r:embed="rId6"/>
          <a:stretch>
            <a:fillRect/>
          </a:stretch>
        </p:blipFill>
        <p:spPr>
          <a:xfrm>
            <a:off x="2560320" y="1234440"/>
            <a:ext cx="1645920" cy="1635369"/>
          </a:xfrm>
          <a:prstGeom prst="rect">
            <a:avLst/>
          </a:prstGeom>
          <a:ln w="9525">
            <a:solidFill>
              <a:srgbClr val="D9DBE4"/>
            </a:solidFill>
          </a:ln>
        </p:spPr>
      </p:pic>
      <p:sp>
        <p:nvSpPr>
          <p:cNvPr id="107" name="Phone 2 caption"/>
          <p:cNvSpPr txBox="1"/>
          <p:nvPr/>
        </p:nvSpPr>
        <p:spPr>
          <a:xfrm>
            <a:off x="2286000" y="4544568"/>
            <a:ext cx="2194560" cy="365760"/>
          </a:xfrm>
          <a:prstGeom prst="rect">
            <a:avLst/>
          </a:prstGeom>
          <a:noFill/>
        </p:spPr>
        <p:txBody>
          <a:bodyPr wrap="square" anchor="t" lIns="0" rIns="0" tIns="0" bIns="0">
            <a:spAutoFit/>
          </a:bodyPr>
          <a:lstStyle/>
          <a:p>
            <a:pPr algn="ctr">
              <a:spcAft>
                <a:spcPts val="400"/>
              </a:spcAft>
            </a:pPr>
            <a:r>
              <a:rPr sz="1100" b="0">
                <a:solidFill>
                  <a:srgbClr val="5B6178"/>
                </a:solidFill>
                <a:latin typeface="Arial"/>
              </a:rPr>
              <a:t>Album menu</a:t>
            </a:r>
          </a:p>
        </p:txBody>
      </p:sp>
      <p:pic>
        <p:nvPicPr>
          <p:cNvPr id="108" name="Phone 3" descr="phone_sort.png"/>
          <p:cNvPicPr>
            <a:picLocks noChangeAspect="1"/>
          </p:cNvPicPr>
          <p:nvPr/>
        </p:nvPicPr>
        <p:blipFill>
          <a:blip r:embed="rId7"/>
          <a:stretch>
            <a:fillRect/>
          </a:stretch>
        </p:blipFill>
        <p:spPr>
          <a:xfrm>
            <a:off x="4709160" y="1234440"/>
            <a:ext cx="1645920" cy="3291840"/>
          </a:xfrm>
          <a:prstGeom prst="rect">
            <a:avLst/>
          </a:prstGeom>
          <a:ln w="9525">
            <a:solidFill>
              <a:srgbClr val="D9DBE4"/>
            </a:solidFill>
          </a:ln>
        </p:spPr>
      </p:pic>
      <p:sp>
        <p:nvSpPr>
          <p:cNvPr id="109" name="Phone 3 caption"/>
          <p:cNvSpPr txBox="1"/>
          <p:nvPr/>
        </p:nvSpPr>
        <p:spPr>
          <a:xfrm>
            <a:off x="4434840" y="4544568"/>
            <a:ext cx="2194560" cy="365760"/>
          </a:xfrm>
          <a:prstGeom prst="rect">
            <a:avLst/>
          </a:prstGeom>
          <a:noFill/>
        </p:spPr>
        <p:txBody>
          <a:bodyPr wrap="square" anchor="t" lIns="0" rIns="0" tIns="0" bIns="0">
            <a:spAutoFit/>
          </a:bodyPr>
          <a:lstStyle/>
          <a:p>
            <a:pPr algn="ctr">
              <a:spcAft>
                <a:spcPts val="400"/>
              </a:spcAft>
            </a:pPr>
            <a:r>
              <a:rPr sz="1100" b="0">
                <a:solidFill>
                  <a:srgbClr val="5B6178"/>
                </a:solidFill>
                <a:latin typeface="Arial"/>
              </a:rPr>
              <a:t>Sort by description</a:t>
            </a:r>
          </a:p>
        </p:txBody>
      </p:sp>
      <p:sp>
        <p:nvSpPr>
          <p:cNvPr id="110" name="Phone note"/>
          <p:cNvSpPr txBox="1"/>
          <p:nvPr/>
        </p:nvSpPr>
        <p:spPr>
          <a:xfrm>
            <a:off x="6629400" y="1371600"/>
            <a:ext cx="2103120" cy="2926080"/>
          </a:xfrm>
          <a:prstGeom prst="rect">
            <a:avLst/>
          </a:prstGeom>
          <a:noFill/>
        </p:spPr>
        <p:txBody>
          <a:bodyPr wrap="square" anchor="t" lIns="0" rIns="0" tIns="0" bIns="0">
            <a:spAutoFit/>
          </a:bodyPr>
          <a:lstStyle/>
          <a:p>
            <a:pPr algn="l">
              <a:spcAft>
                <a:spcPts val="400"/>
              </a:spcAft>
            </a:pPr>
            <a:r>
              <a:rPr sz="1300" b="1">
                <a:solidFill>
                  <a:srgbClr val="D6336C"/>
                </a:solidFill>
                <a:latin typeface="Arial"/>
              </a:rPr>
              <a:t>Phone first</a:t>
            </a:r>
          </a:p>
          <a:p>
            <a:pPr algn="l">
              <a:spcAft>
                <a:spcPts val="400"/>
              </a:spcAft>
            </a:pPr>
            <a:r>
              <a:rPr sz="1200" b="0">
                <a:solidFill>
                  <a:srgbClr val="1F2540"/>
                </a:solidFill>
                <a:latin typeface="Arial"/>
              </a:rPr>
              <a:t>Works from 320 px wide to desktop, with large touch targets and a bottom action bar. Our own pink design and camera mascot.</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pic>
        <p:nvPicPr>
          <p:cNvPr id="112" name="Architecture diagram" descr="architecture_c.png"/>
          <p:cNvPicPr>
            <a:picLocks noChangeAspect="1"/>
          </p:cNvPicPr>
          <p:nvPr/>
        </p:nvPicPr>
        <p:blipFill>
          <a:blip r:embed="rId5"/>
          <a:stretch>
            <a:fillRect/>
          </a:stretch>
        </p:blipFill>
        <p:spPr>
          <a:xfrm>
            <a:off x="502920" y="1234440"/>
            <a:ext cx="8138160" cy="36960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Tech card 1"/>
          <p:cNvSpPr/>
          <p:nvPr/>
        </p:nvSpPr>
        <p:spPr>
          <a:xfrm>
            <a:off x="411480" y="1325880"/>
            <a:ext cx="2651760" cy="35204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ch card 1 text"/>
          <p:cNvSpPr txBox="1"/>
          <p:nvPr/>
        </p:nvSpPr>
        <p:spPr>
          <a:xfrm>
            <a:off x="594360" y="1463040"/>
            <a:ext cx="2286000" cy="3291840"/>
          </a:xfrm>
          <a:prstGeom prst="rect">
            <a:avLst/>
          </a:prstGeom>
          <a:noFill/>
        </p:spPr>
        <p:txBody>
          <a:bodyPr wrap="square" anchor="t" lIns="0" rIns="0" tIns="0" bIns="0">
            <a:spAutoFit/>
          </a:bodyPr>
          <a:lstStyle/>
          <a:p>
            <a:pPr algn="l">
              <a:spcAft>
                <a:spcPts val="800"/>
              </a:spcAft>
            </a:pPr>
            <a:r>
              <a:rPr sz="1400" b="1">
                <a:solidFill>
                  <a:srgbClr val="D6336C"/>
                </a:solidFill>
                <a:latin typeface="Arial"/>
              </a:rPr>
              <a:t>Google Cloud</a:t>
            </a:r>
          </a:p>
          <a:p>
            <a:pPr algn="l">
              <a:spcAft>
                <a:spcPts val="500"/>
              </a:spcAft>
            </a:pPr>
            <a:r>
              <a:rPr sz="1100" b="1">
                <a:solidFill>
                  <a:srgbClr val="1F2540"/>
                </a:solidFill>
                <a:latin typeface="Arial"/>
              </a:rPr>
              <a:t>Cloud Run</a:t>
            </a:r>
            <a:r>
              <a:rPr sz="1100" b="0">
                <a:solidFill>
                  <a:srgbClr val="1F2540"/>
                </a:solidFill>
                <a:latin typeface="Arial"/>
              </a:rPr>
              <a:t>: runs the app and the face model</a:t>
            </a:r>
          </a:p>
          <a:p>
            <a:pPr algn="l">
              <a:spcAft>
                <a:spcPts val="500"/>
              </a:spcAft>
            </a:pPr>
            <a:r>
              <a:rPr sz="1100" b="1">
                <a:solidFill>
                  <a:srgbClr val="1F2540"/>
                </a:solidFill>
                <a:latin typeface="Arial"/>
              </a:rPr>
              <a:t>Firestore</a:t>
            </a:r>
            <a:r>
              <a:rPr sz="1100" b="0">
                <a:solidFill>
                  <a:srgbClr val="1F2540"/>
                </a:solidFill>
                <a:latin typeface="Arial"/>
              </a:rPr>
              <a:t>: scan results, Gemini notes, names</a:t>
            </a:r>
          </a:p>
          <a:p>
            <a:pPr algn="l">
              <a:spcAft>
                <a:spcPts val="500"/>
              </a:spcAft>
            </a:pPr>
            <a:r>
              <a:rPr sz="1100" b="1">
                <a:solidFill>
                  <a:srgbClr val="1F2540"/>
                </a:solidFill>
                <a:latin typeface="Arial"/>
              </a:rPr>
              <a:t>Firebase Hosting</a:t>
            </a:r>
            <a:r>
              <a:rPr sz="1100" b="0">
                <a:solidFill>
                  <a:srgbClr val="1F2540"/>
                </a:solidFill>
                <a:latin typeface="Arial"/>
              </a:rPr>
              <a:t>: the public address</a:t>
            </a:r>
          </a:p>
          <a:p>
            <a:pPr algn="l">
              <a:spcAft>
                <a:spcPts val="500"/>
              </a:spcAft>
            </a:pPr>
            <a:r>
              <a:rPr sz="1100" b="1">
                <a:solidFill>
                  <a:srgbClr val="1F2540"/>
                </a:solidFill>
                <a:latin typeface="Arial"/>
              </a:rPr>
              <a:t>Vertex AI</a:t>
            </a:r>
            <a:r>
              <a:rPr sz="1100" b="0">
                <a:solidFill>
                  <a:srgbClr val="1F2540"/>
                </a:solidFill>
                <a:latin typeface="Arial"/>
              </a:rPr>
              <a:t>: Gemini, no API key needed</a:t>
            </a:r>
          </a:p>
          <a:p>
            <a:pPr algn="l">
              <a:spcAft>
                <a:spcPts val="500"/>
              </a:spcAft>
            </a:pPr>
            <a:r>
              <a:rPr sz="1100" b="1">
                <a:solidFill>
                  <a:srgbClr val="1F2540"/>
                </a:solidFill>
                <a:latin typeface="Arial"/>
              </a:rPr>
              <a:t>Drive API, Google sign-in</a:t>
            </a:r>
            <a:r>
              <a:rPr sz="1100" b="0">
                <a:solidFill>
                  <a:srgbClr val="1F2540"/>
                </a:solidFill>
                <a:latin typeface="Arial"/>
              </a:rPr>
              <a:t>: read albums, copy photos</a:t>
            </a:r>
          </a:p>
          <a:p>
            <a:pPr algn="l">
              <a:spcAft>
                <a:spcPts val="500"/>
              </a:spcAft>
            </a:pPr>
            <a:r>
              <a:rPr sz="1100" b="1">
                <a:solidFill>
                  <a:srgbClr val="1F2540"/>
                </a:solidFill>
                <a:latin typeface="Arial"/>
              </a:rPr>
              <a:t>Secret Manager</a:t>
            </a:r>
            <a:r>
              <a:rPr sz="1100" b="0">
                <a:solidFill>
                  <a:srgbClr val="1F2540"/>
                </a:solidFill>
                <a:latin typeface="Arial"/>
              </a:rPr>
              <a:t>: sign-in secrets</a:t>
            </a:r>
          </a:p>
        </p:txBody>
      </p:sp>
      <p:sp>
        <p:nvSpPr>
          <p:cNvPr id="122" name="Tech card 2"/>
          <p:cNvSpPr/>
          <p:nvPr/>
        </p:nvSpPr>
        <p:spPr>
          <a:xfrm>
            <a:off x="3246120" y="1325880"/>
            <a:ext cx="2651760" cy="35204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ch card 2 text"/>
          <p:cNvSpPr txBox="1"/>
          <p:nvPr/>
        </p:nvSpPr>
        <p:spPr>
          <a:xfrm>
            <a:off x="3429000" y="1463040"/>
            <a:ext cx="2286000" cy="3291840"/>
          </a:xfrm>
          <a:prstGeom prst="rect">
            <a:avLst/>
          </a:prstGeom>
          <a:noFill/>
        </p:spPr>
        <p:txBody>
          <a:bodyPr wrap="square" anchor="t" lIns="0" rIns="0" tIns="0" bIns="0">
            <a:spAutoFit/>
          </a:bodyPr>
          <a:lstStyle/>
          <a:p>
            <a:pPr algn="l">
              <a:spcAft>
                <a:spcPts val="800"/>
              </a:spcAft>
            </a:pPr>
            <a:r>
              <a:rPr sz="1400" b="1">
                <a:solidFill>
                  <a:srgbClr val="D6336C"/>
                </a:solidFill>
                <a:latin typeface="Arial"/>
              </a:rPr>
              <a:t>AI models</a:t>
            </a:r>
          </a:p>
          <a:p>
            <a:pPr algn="l">
              <a:spcAft>
                <a:spcPts val="500"/>
              </a:spcAft>
            </a:pPr>
            <a:r>
              <a:rPr sz="1100" b="1">
                <a:solidFill>
                  <a:srgbClr val="1F2540"/>
                </a:solidFill>
                <a:latin typeface="Arial"/>
              </a:rPr>
              <a:t>Gemini 3.5 Flash</a:t>
            </a:r>
            <a:r>
              <a:rPr sz="1100" b="0">
                <a:solidFill>
                  <a:srgbClr val="1F2540"/>
                </a:solidFill>
                <a:latin typeface="Arial"/>
              </a:rPr>
              <a:t>: photo notes, sorting, folder suggestions</a:t>
            </a:r>
          </a:p>
          <a:p>
            <a:pPr algn="l">
              <a:spcAft>
                <a:spcPts val="500"/>
              </a:spcAft>
            </a:pPr>
            <a:r>
              <a:rPr sz="1100" b="1">
                <a:solidFill>
                  <a:srgbClr val="1F2540"/>
                </a:solidFill>
                <a:latin typeface="Arial"/>
              </a:rPr>
              <a:t>InsightFace buffalo_l</a:t>
            </a:r>
            <a:r>
              <a:rPr sz="1100" b="0">
                <a:solidFill>
                  <a:srgbClr val="1F2540"/>
                </a:solidFill>
                <a:latin typeface="Arial"/>
              </a:rPr>
              <a:t>: face detection and matching, on CPU</a:t>
            </a:r>
          </a:p>
          <a:p>
            <a:pPr algn="l">
              <a:spcAft>
                <a:spcPts val="500"/>
              </a:spcAft>
            </a:pPr>
            <a:r>
              <a:rPr sz="1100" b="1">
                <a:solidFill>
                  <a:srgbClr val="1F2540"/>
                </a:solidFill>
                <a:latin typeface="Arial"/>
              </a:rPr>
              <a:t>OpenCV</a:t>
            </a:r>
            <a:r>
              <a:rPr sz="1100" b="0">
                <a:solidFill>
                  <a:srgbClr val="1F2540"/>
                </a:solidFill>
                <a:latin typeface="Arial"/>
              </a:rPr>
              <a:t>: images, burst fingerprints</a:t>
            </a:r>
          </a:p>
        </p:txBody>
      </p:sp>
      <p:sp>
        <p:nvSpPr>
          <p:cNvPr id="124" name="Tech card 3"/>
          <p:cNvSpPr/>
          <p:nvPr/>
        </p:nvSpPr>
        <p:spPr>
          <a:xfrm>
            <a:off x="6080760" y="1325880"/>
            <a:ext cx="2651760" cy="35204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ch card 3 text"/>
          <p:cNvSpPr txBox="1"/>
          <p:nvPr/>
        </p:nvSpPr>
        <p:spPr>
          <a:xfrm>
            <a:off x="6263640" y="1463040"/>
            <a:ext cx="2286000" cy="3291840"/>
          </a:xfrm>
          <a:prstGeom prst="rect">
            <a:avLst/>
          </a:prstGeom>
          <a:noFill/>
        </p:spPr>
        <p:txBody>
          <a:bodyPr wrap="square" anchor="t" lIns="0" rIns="0" tIns="0" bIns="0">
            <a:spAutoFit/>
          </a:bodyPr>
          <a:lstStyle/>
          <a:p>
            <a:pPr algn="l">
              <a:spcAft>
                <a:spcPts val="800"/>
              </a:spcAft>
            </a:pPr>
            <a:r>
              <a:rPr sz="1400" b="1">
                <a:solidFill>
                  <a:srgbClr val="D6336C"/>
                </a:solidFill>
                <a:latin typeface="Arial"/>
              </a:rPr>
              <a:t>App and tools</a:t>
            </a:r>
          </a:p>
          <a:p>
            <a:pPr algn="l">
              <a:spcAft>
                <a:spcPts val="500"/>
              </a:spcAft>
            </a:pPr>
            <a:r>
              <a:rPr sz="1100" b="1">
                <a:solidFill>
                  <a:srgbClr val="1F2540"/>
                </a:solidFill>
                <a:latin typeface="Arial"/>
              </a:rPr>
              <a:t>Python, FastAPI</a:t>
            </a:r>
            <a:r>
              <a:rPr sz="1100" b="0">
                <a:solidFill>
                  <a:srgbClr val="1F2540"/>
                </a:solidFill>
                <a:latin typeface="Arial"/>
              </a:rPr>
              <a:t>: server and background jobs</a:t>
            </a:r>
          </a:p>
          <a:p>
            <a:pPr algn="l">
              <a:spcAft>
                <a:spcPts val="500"/>
              </a:spcAft>
            </a:pPr>
            <a:r>
              <a:rPr sz="1100" b="1">
                <a:solidFill>
                  <a:srgbClr val="1F2540"/>
                </a:solidFill>
                <a:latin typeface="Arial"/>
              </a:rPr>
              <a:t>HTML, CSS, JavaScript</a:t>
            </a:r>
            <a:r>
              <a:rPr sz="1100" b="0">
                <a:solidFill>
                  <a:srgbClr val="1F2540"/>
                </a:solidFill>
                <a:latin typeface="Arial"/>
              </a:rPr>
              <a:t>: one-file front end</a:t>
            </a:r>
          </a:p>
          <a:p>
            <a:pPr algn="l">
              <a:spcAft>
                <a:spcPts val="500"/>
              </a:spcAft>
            </a:pPr>
            <a:r>
              <a:rPr sz="1100" b="1">
                <a:solidFill>
                  <a:srgbClr val="1F2540"/>
                </a:solidFill>
                <a:latin typeface="Arial"/>
              </a:rPr>
              <a:t>Docker</a:t>
            </a:r>
            <a:r>
              <a:rPr sz="1100" b="0">
                <a:solidFill>
                  <a:srgbClr val="1F2540"/>
                </a:solidFill>
                <a:latin typeface="Arial"/>
              </a:rPr>
              <a:t>: one container</a:t>
            </a:r>
          </a:p>
          <a:p>
            <a:pPr algn="l">
              <a:spcAft>
                <a:spcPts val="500"/>
              </a:spcAft>
            </a:pPr>
            <a:r>
              <a:rPr sz="1100" b="1">
                <a:solidFill>
                  <a:srgbClr val="1F2540"/>
                </a:solidFill>
                <a:latin typeface="Arial"/>
              </a:rPr>
              <a:t>Tests</a:t>
            </a:r>
            <a:r>
              <a:rPr sz="1100" b="0">
                <a:solidFill>
                  <a:srgbClr val="1F2540"/>
                </a:solidFill>
                <a:latin typeface="Arial"/>
              </a:rPr>
              <a:t>: 90 Python checks, browser tests</a:t>
            </a:r>
          </a:p>
          <a:p>
            <a:pPr algn="l">
              <a:spcAft>
                <a:spcPts val="500"/>
              </a:spcAft>
            </a:pPr>
            <a:r>
              <a:rPr sz="1100" b="1">
                <a:solidFill>
                  <a:srgbClr val="1F2540"/>
                </a:solidFill>
                <a:latin typeface="Arial"/>
              </a:rPr>
              <a:t>Antigravity, Gemini</a:t>
            </a:r>
            <a:r>
              <a:rPr sz="1100" b="0">
                <a:solidFill>
                  <a:srgbClr val="1F2540"/>
                </a:solidFill>
                <a:latin typeface="Arial"/>
              </a:rPr>
              <a:t>: testing, demo photos of made-up people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Cost text"/>
          <p:cNvSpPr txBox="1"/>
          <p:nvPr/>
        </p:nvSpPr>
        <p:spPr>
          <a:xfrm>
            <a:off x="411480" y="1325880"/>
            <a:ext cx="5120640" cy="3566160"/>
          </a:xfrm>
          <a:prstGeom prst="rect">
            <a:avLst/>
          </a:prstGeom>
          <a:noFill/>
        </p:spPr>
        <p:txBody>
          <a:bodyPr wrap="square" anchor="t" lIns="0" rIns="0" tIns="0" bIns="0">
            <a:spAutoFit/>
          </a:bodyPr>
          <a:lstStyle/>
          <a:p>
            <a:pPr algn="l">
              <a:spcAft>
                <a:spcPts val="800"/>
              </a:spcAft>
            </a:pPr>
            <a:r>
              <a:rPr sz="1400" b="1">
                <a:solidFill>
                  <a:srgbClr val="D6336C"/>
                </a:solidFill>
                <a:latin typeface="Arial"/>
              </a:rPr>
              <a:t>What it costs to run</a:t>
            </a:r>
          </a:p>
          <a:p>
            <a:pPr algn="l" marL="164592" indent="-146304">
              <a:spcAft>
                <a:spcPts val="800"/>
              </a:spcAft>
              <a:buChar char="•"/>
            </a:pPr>
            <a:r>
              <a:rPr sz="1300" b="1">
                <a:solidFill>
                  <a:srgbClr val="1F2540"/>
                </a:solidFill>
                <a:latin typeface="Arial"/>
              </a:rPr>
              <a:t>Cloud Run: </a:t>
            </a:r>
            <a:r>
              <a:rPr sz="1300" b="0">
                <a:solidFill>
                  <a:srgbClr val="1F2540"/>
                </a:solidFill>
                <a:latin typeface="Arial"/>
              </a:rPr>
              <a:t>one 4-vCPU instance; it scales to zero when idle.</a:t>
            </a:r>
          </a:p>
          <a:p>
            <a:pPr algn="l" marL="164592" indent="-146304">
              <a:spcAft>
                <a:spcPts val="800"/>
              </a:spcAft>
              <a:buChar char="•"/>
            </a:pPr>
            <a:r>
              <a:rPr sz="1300" b="1">
                <a:solidFill>
                  <a:srgbClr val="1F2540"/>
                </a:solidFill>
                <a:latin typeface="Arial"/>
              </a:rPr>
              <a:t>Gemini: </a:t>
            </a:r>
            <a:r>
              <a:rPr sz="1300" b="0">
                <a:solidFill>
                  <a:srgbClr val="1F2540"/>
                </a:solidFill>
                <a:latin typeface="Arial"/>
              </a:rPr>
              <a:t>one image call per photo. Cached notes avoid repeating it for unchanged photos; Sort sends text only.</a:t>
            </a:r>
          </a:p>
          <a:p>
            <a:pPr algn="l" marL="164592" indent="-146304">
              <a:spcAft>
                <a:spcPts val="800"/>
              </a:spcAft>
              <a:buChar char="•"/>
            </a:pPr>
            <a:r>
              <a:rPr sz="1300" b="1">
                <a:solidFill>
                  <a:srgbClr val="1F2540"/>
                </a:solidFill>
                <a:latin typeface="Arial"/>
              </a:rPr>
              <a:t>After the scan: </a:t>
            </a:r>
            <a:r>
              <a:rPr sz="1300" b="0">
                <a:solidFill>
                  <a:srgbClr val="1F2540"/>
                </a:solidFill>
                <a:latin typeface="Arial"/>
              </a:rPr>
              <a:t>Find people, Cull and Best 10 reuse saved notes, with no new Gemini calls.</a:t>
            </a:r>
          </a:p>
          <a:p>
            <a:pPr algn="l" marL="164592" indent="-146304">
              <a:spcAft>
                <a:spcPts val="800"/>
              </a:spcAft>
              <a:buChar char="•"/>
            </a:pPr>
            <a:r>
              <a:rPr sz="1300" b="1">
                <a:solidFill>
                  <a:srgbClr val="1F2540"/>
                </a:solidFill>
                <a:latin typeface="Arial"/>
              </a:rPr>
              <a:t>Still charged: </a:t>
            </a:r>
            <a:r>
              <a:rPr sz="1300" b="0">
                <a:solidFill>
                  <a:srgbClr val="1F2540"/>
                </a:solidFill>
                <a:latin typeface="Arial"/>
              </a:rPr>
              <a:t>compute, Firestore storage and reads, as usual. No measured per-album cost is claimed.</a:t>
            </a:r>
          </a:p>
        </p:txBody>
      </p:sp>
      <p:sp>
        <p:nvSpPr>
          <p:cNvPr id="129" name="Cost callout"/>
          <p:cNvSpPr/>
          <p:nvPr/>
        </p:nvSpPr>
        <p:spPr>
          <a:xfrm>
            <a:off x="5852160" y="1463040"/>
            <a:ext cx="2880360" cy="310896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Cost numbers"/>
          <p:cNvSpPr txBox="1"/>
          <p:nvPr/>
        </p:nvSpPr>
        <p:spPr>
          <a:xfrm>
            <a:off x="6035040" y="1645920"/>
            <a:ext cx="2514600" cy="2743200"/>
          </a:xfrm>
          <a:prstGeom prst="rect">
            <a:avLst/>
          </a:prstGeom>
          <a:noFill/>
        </p:spPr>
        <p:txBody>
          <a:bodyPr wrap="square" anchor="t" lIns="0" rIns="0" tIns="0" bIns="0">
            <a:spAutoFit/>
          </a:bodyPr>
          <a:lstStyle/>
          <a:p>
            <a:pPr algn="l">
              <a:spcAft>
                <a:spcPts val="600"/>
              </a:spcAft>
            </a:pPr>
            <a:r>
              <a:rPr sz="1300" b="1">
                <a:solidFill>
                  <a:srgbClr val="D6336C"/>
                </a:solidFill>
                <a:latin typeface="Arial"/>
              </a:rPr>
              <a:t>Per 1,000 photos</a:t>
            </a:r>
          </a:p>
          <a:p>
            <a:pPr algn="l">
              <a:spcAft>
                <a:spcPts val="0"/>
              </a:spcAft>
            </a:pPr>
            <a:r>
              <a:rPr sz="3000" b="1">
                <a:solidFill>
                  <a:srgbClr val="1F2540"/>
                </a:solidFill>
                <a:latin typeface="Arial"/>
              </a:rPr>
              <a:t>1,000</a:t>
            </a:r>
          </a:p>
          <a:p>
            <a:pPr algn="l">
              <a:spcAft>
                <a:spcPts val="1000"/>
              </a:spcAft>
            </a:pPr>
            <a:r>
              <a:rPr sz="1100" b="0">
                <a:solidFill>
                  <a:srgbClr val="5B6178"/>
                </a:solidFill>
                <a:latin typeface="Arial"/>
              </a:rPr>
              <a:t>Gemini image calls, once</a:t>
            </a:r>
          </a:p>
          <a:p>
            <a:pPr algn="l">
              <a:spcAft>
                <a:spcPts val="0"/>
              </a:spcAft>
            </a:pPr>
            <a:r>
              <a:rPr sz="3000" b="1">
                <a:solidFill>
                  <a:srgbClr val="1F2540"/>
                </a:solidFill>
                <a:latin typeface="Arial"/>
              </a:rPr>
              <a:t>~25</a:t>
            </a:r>
          </a:p>
          <a:p>
            <a:pPr algn="l">
              <a:spcAft>
                <a:spcPts val="1000"/>
              </a:spcAft>
            </a:pPr>
            <a:r>
              <a:rPr sz="1100" b="0">
                <a:solidFill>
                  <a:srgbClr val="5B6178"/>
                </a:solidFill>
                <a:latin typeface="Arial"/>
              </a:rPr>
              <a:t>text calls for each sort</a:t>
            </a:r>
          </a:p>
          <a:p>
            <a:pPr algn="l">
              <a:spcAft>
                <a:spcPts val="0"/>
              </a:spcAft>
            </a:pPr>
            <a:r>
              <a:rPr sz="3000" b="1">
                <a:solidFill>
                  <a:srgbClr val="1F2540"/>
                </a:solidFill>
                <a:latin typeface="Arial"/>
              </a:rPr>
              <a:t>0</a:t>
            </a:r>
          </a:p>
          <a:p>
            <a:pPr algn="l">
              <a:spcAft>
                <a:spcPts val="400"/>
              </a:spcAft>
            </a:pPr>
            <a:r>
              <a:rPr sz="1100" b="0">
                <a:solidFill>
                  <a:srgbClr val="5B6178"/>
                </a:solidFill>
                <a:latin typeface="Arial"/>
              </a:rPr>
              <a:t>new Gemini image calls to rescan unchanged photos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Snapshot Everyone" descr="everyone_live.png"/>
          <p:cNvPicPr>
            <a:picLocks noChangeAspect="1"/>
          </p:cNvPicPr>
          <p:nvPr/>
        </p:nvPicPr>
        <p:blipFill>
          <a:blip r:embed="rId5"/>
          <a:stretch>
            <a:fillRect/>
          </a:stretch>
        </p:blipFill>
        <p:spPr>
          <a:xfrm>
            <a:off x="274320" y="1188720"/>
            <a:ext cx="5486400" cy="3139699"/>
          </a:xfrm>
          <a:prstGeom prst="rect">
            <a:avLst/>
          </a:prstGeom>
          <a:ln w="9525">
            <a:solidFill>
              <a:srgbClr val="D9DBE4"/>
            </a:solidFill>
          </a:ln>
        </p:spPr>
      </p:pic>
      <p:sp>
        <p:nvSpPr>
          <p:cNvPr id="137" name="Snapshot caption"/>
          <p:cNvSpPr txBox="1"/>
          <p:nvPr/>
        </p:nvSpPr>
        <p:spPr>
          <a:xfrm>
            <a:off x="274320" y="4383283"/>
            <a:ext cx="5486400" cy="457200"/>
          </a:xfrm>
          <a:prstGeom prst="rect">
            <a:avLst/>
          </a:prstGeom>
          <a:noFill/>
        </p:spPr>
        <p:txBody>
          <a:bodyPr wrap="square" anchor="t" lIns="0" rIns="0" tIns="0" bIns="0">
            <a:spAutoFit/>
          </a:bodyPr>
          <a:lstStyle/>
          <a:p>
            <a:pPr algn="l">
              <a:spcAft>
                <a:spcPts val="400"/>
              </a:spcAft>
            </a:pPr>
            <a:r>
              <a:rPr sz="1000" b="0">
                <a:solidFill>
                  <a:srgbClr val="5B6178"/>
                </a:solidFill>
                <a:latin typeface="Arial"/>
              </a:rPr>
              <a:t>Everyone on the live app: name a face to make a folder. Right: scanning, and Sort by description.</a:t>
            </a:r>
          </a:p>
        </p:txBody>
      </p:sp>
      <p:pic>
        <p:nvPicPr>
          <p:cNvPr id="138" name="Snapshot scan" descr="scan_c.png"/>
          <p:cNvPicPr>
            <a:picLocks noChangeAspect="1"/>
          </p:cNvPicPr>
          <p:nvPr/>
        </p:nvPicPr>
        <p:blipFill>
          <a:blip r:embed="rId6"/>
          <a:stretch>
            <a:fillRect/>
          </a:stretch>
        </p:blipFill>
        <p:spPr>
          <a:xfrm>
            <a:off x="5897880" y="1188720"/>
            <a:ext cx="3017520" cy="1257300"/>
          </a:xfrm>
          <a:prstGeom prst="rect">
            <a:avLst/>
          </a:prstGeom>
          <a:ln w="9525">
            <a:solidFill>
              <a:srgbClr val="D9DBE4"/>
            </a:solidFill>
          </a:ln>
        </p:spPr>
      </p:pic>
      <p:pic>
        <p:nvPicPr>
          <p:cNvPr id="139" name="Snapshot sort" descr="sort_c.png"/>
          <p:cNvPicPr>
            <a:picLocks noChangeAspect="1"/>
          </p:cNvPicPr>
          <p:nvPr/>
        </p:nvPicPr>
        <p:blipFill>
          <a:blip r:embed="rId7"/>
          <a:stretch>
            <a:fillRect/>
          </a:stretch>
        </p:blipFill>
        <p:spPr>
          <a:xfrm>
            <a:off x="5897880" y="2606040"/>
            <a:ext cx="3017520" cy="1173480"/>
          </a:xfrm>
          <a:prstGeom prst="rect">
            <a:avLst/>
          </a:prstGeom>
          <a:ln w="9525">
            <a:solidFill>
              <a:srgbClr val="D9DBE4"/>
            </a:solid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Stat 1"/>
          <p:cNvSpPr/>
          <p:nvPr/>
        </p:nvSpPr>
        <p:spPr>
          <a:xfrm>
            <a:off x="411480" y="1325880"/>
            <a:ext cx="2651760" cy="14630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Stat 1 text"/>
          <p:cNvSpPr txBox="1"/>
          <p:nvPr/>
        </p:nvSpPr>
        <p:spPr>
          <a:xfrm>
            <a:off x="594360" y="1463039"/>
            <a:ext cx="2286000" cy="1234440"/>
          </a:xfrm>
          <a:prstGeom prst="rect">
            <a:avLst/>
          </a:prstGeom>
          <a:noFill/>
        </p:spPr>
        <p:txBody>
          <a:bodyPr wrap="square" anchor="t" lIns="0" rIns="0" tIns="0" bIns="0">
            <a:spAutoFit/>
          </a:bodyPr>
          <a:lstStyle/>
          <a:p>
            <a:pPr algn="l">
              <a:spcAft>
                <a:spcPts val="200"/>
              </a:spcAft>
            </a:pPr>
            <a:r>
              <a:rPr sz="2600" b="1">
                <a:solidFill>
                  <a:srgbClr val="D6336C"/>
                </a:solidFill>
                <a:latin typeface="Arial"/>
              </a:rPr>
              <a:t>0.75–0.98</a:t>
            </a:r>
          </a:p>
          <a:p>
            <a:pPr algn="l">
              <a:spcAft>
                <a:spcPts val="400"/>
              </a:spcAft>
            </a:pPr>
            <a:r>
              <a:rPr sz="1100" b="0">
                <a:solidFill>
                  <a:srgbClr val="1F2540"/>
                </a:solidFill>
                <a:latin typeface="Arial"/>
              </a:rPr>
              <a:t>face match score for the same person, against −0.05 for a different person</a:t>
            </a:r>
          </a:p>
        </p:txBody>
      </p:sp>
      <p:sp>
        <p:nvSpPr>
          <p:cNvPr id="146" name="Stat 2"/>
          <p:cNvSpPr/>
          <p:nvPr/>
        </p:nvSpPr>
        <p:spPr>
          <a:xfrm>
            <a:off x="3246120" y="1325880"/>
            <a:ext cx="2651760" cy="14630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Stat 2 text"/>
          <p:cNvSpPr txBox="1"/>
          <p:nvPr/>
        </p:nvSpPr>
        <p:spPr>
          <a:xfrm>
            <a:off x="3429000" y="1463039"/>
            <a:ext cx="2286000" cy="1234440"/>
          </a:xfrm>
          <a:prstGeom prst="rect">
            <a:avLst/>
          </a:prstGeom>
          <a:noFill/>
        </p:spPr>
        <p:txBody>
          <a:bodyPr wrap="square" anchor="t" lIns="0" rIns="0" tIns="0" bIns="0">
            <a:spAutoFit/>
          </a:bodyPr>
          <a:lstStyle/>
          <a:p>
            <a:pPr algn="l">
              <a:spcAft>
                <a:spcPts val="200"/>
              </a:spcAft>
            </a:pPr>
            <a:r>
              <a:rPr sz="2600" b="1">
                <a:solidFill>
                  <a:srgbClr val="D6336C"/>
                </a:solidFill>
                <a:latin typeface="Arial"/>
              </a:rPr>
              <a:t>40 of 40</a:t>
            </a:r>
          </a:p>
          <a:p>
            <a:pPr algn="l">
              <a:spcAft>
                <a:spcPts val="400"/>
              </a:spcAft>
            </a:pPr>
            <a:r>
              <a:rPr sz="1100" b="0">
                <a:solidFill>
                  <a:srgbClr val="1F2540"/>
                </a:solidFill>
                <a:latin typeface="Arial"/>
              </a:rPr>
              <a:t>small-face stress test: 40 faces 18 px wide in a synthetic grid</a:t>
            </a:r>
          </a:p>
        </p:txBody>
      </p:sp>
      <p:sp>
        <p:nvSpPr>
          <p:cNvPr id="148" name="Stat 3"/>
          <p:cNvSpPr/>
          <p:nvPr/>
        </p:nvSpPr>
        <p:spPr>
          <a:xfrm>
            <a:off x="6080760" y="1325880"/>
            <a:ext cx="2651760" cy="14630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Stat 3 text"/>
          <p:cNvSpPr txBox="1"/>
          <p:nvPr/>
        </p:nvSpPr>
        <p:spPr>
          <a:xfrm>
            <a:off x="6263640" y="1463039"/>
            <a:ext cx="2286000" cy="1234440"/>
          </a:xfrm>
          <a:prstGeom prst="rect">
            <a:avLst/>
          </a:prstGeom>
          <a:noFill/>
        </p:spPr>
        <p:txBody>
          <a:bodyPr wrap="square" anchor="t" lIns="0" rIns="0" tIns="0" bIns="0">
            <a:spAutoFit/>
          </a:bodyPr>
          <a:lstStyle/>
          <a:p>
            <a:pPr algn="l">
              <a:spcAft>
                <a:spcPts val="200"/>
              </a:spcAft>
            </a:pPr>
            <a:r>
              <a:rPr sz="2600" b="1">
                <a:solidFill>
                  <a:srgbClr val="D6336C"/>
                </a:solidFill>
                <a:latin typeface="Arial"/>
              </a:rPr>
              <a:t>1 min 36 s</a:t>
            </a:r>
          </a:p>
          <a:p>
            <a:pPr algn="l">
              <a:spcAft>
                <a:spcPts val="400"/>
              </a:spcAft>
            </a:pPr>
            <a:r>
              <a:rPr sz="1100" b="0">
                <a:solidFill>
                  <a:srgbClr val="1F2540"/>
                </a:solidFill>
                <a:latin typeface="Arial"/>
              </a:rPr>
              <a:t>one observed live run: 37 photos scanned with Gemini notes (4 vCPU)</a:t>
            </a:r>
          </a:p>
        </p:txBody>
      </p:sp>
      <p:sp>
        <p:nvSpPr>
          <p:cNvPr id="150" name="Stat 4"/>
          <p:cNvSpPr/>
          <p:nvPr/>
        </p:nvSpPr>
        <p:spPr>
          <a:xfrm>
            <a:off x="411480" y="2971800"/>
            <a:ext cx="2651760" cy="14630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Stat 4 text"/>
          <p:cNvSpPr txBox="1"/>
          <p:nvPr/>
        </p:nvSpPr>
        <p:spPr>
          <a:xfrm>
            <a:off x="594360" y="3108960"/>
            <a:ext cx="2286000" cy="1234440"/>
          </a:xfrm>
          <a:prstGeom prst="rect">
            <a:avLst/>
          </a:prstGeom>
          <a:noFill/>
        </p:spPr>
        <p:txBody>
          <a:bodyPr wrap="square" anchor="t" lIns="0" rIns="0" tIns="0" bIns="0">
            <a:spAutoFit/>
          </a:bodyPr>
          <a:lstStyle/>
          <a:p>
            <a:pPr algn="l">
              <a:spcAft>
                <a:spcPts val="200"/>
              </a:spcAft>
            </a:pPr>
            <a:r>
              <a:rPr sz="2600" b="1">
                <a:solidFill>
                  <a:srgbClr val="D6336C"/>
                </a:solidFill>
                <a:latin typeface="Arial"/>
              </a:rPr>
              <a:t>28 s</a:t>
            </a:r>
          </a:p>
          <a:p>
            <a:pPr algn="l">
              <a:spcAft>
                <a:spcPts val="400"/>
              </a:spcAft>
            </a:pPr>
            <a:r>
              <a:rPr sz="1100" b="0">
                <a:solidFill>
                  <a:srgbClr val="1F2540"/>
                </a:solidFill>
                <a:latin typeface="Arial"/>
              </a:rPr>
              <a:t>one observed live run: 31 copies exported into 5 Drive folders</a:t>
            </a:r>
          </a:p>
        </p:txBody>
      </p:sp>
      <p:sp>
        <p:nvSpPr>
          <p:cNvPr id="152" name="Stat 5"/>
          <p:cNvSpPr/>
          <p:nvPr/>
        </p:nvSpPr>
        <p:spPr>
          <a:xfrm>
            <a:off x="3246120" y="2971800"/>
            <a:ext cx="2651760" cy="14630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Stat 5 text"/>
          <p:cNvSpPr txBox="1"/>
          <p:nvPr/>
        </p:nvSpPr>
        <p:spPr>
          <a:xfrm>
            <a:off x="3429000" y="3108960"/>
            <a:ext cx="2286000" cy="1234440"/>
          </a:xfrm>
          <a:prstGeom prst="rect">
            <a:avLst/>
          </a:prstGeom>
          <a:noFill/>
        </p:spPr>
        <p:txBody>
          <a:bodyPr wrap="square" anchor="t" lIns="0" rIns="0" tIns="0" bIns="0">
            <a:spAutoFit/>
          </a:bodyPr>
          <a:lstStyle/>
          <a:p>
            <a:pPr algn="l">
              <a:spcAft>
                <a:spcPts val="200"/>
              </a:spcAft>
            </a:pPr>
            <a:r>
              <a:rPr sz="2600" b="1">
                <a:solidFill>
                  <a:srgbClr val="D6336C"/>
                </a:solidFill>
                <a:latin typeface="Arial"/>
              </a:rPr>
              <a:t>16 s</a:t>
            </a:r>
          </a:p>
          <a:p>
            <a:pPr algn="l">
              <a:spcAft>
                <a:spcPts val="400"/>
              </a:spcAft>
            </a:pPr>
            <a:r>
              <a:rPr sz="1100" b="0">
                <a:solidFill>
                  <a:srgbClr val="1F2540"/>
                </a:solidFill>
                <a:latin typeface="Arial"/>
              </a:rPr>
              <a:t>one observed live run: upload a selfie, all 3 of that person's photos found</a:t>
            </a:r>
          </a:p>
        </p:txBody>
      </p:sp>
      <p:sp>
        <p:nvSpPr>
          <p:cNvPr id="154" name="Stat 6"/>
          <p:cNvSpPr/>
          <p:nvPr/>
        </p:nvSpPr>
        <p:spPr>
          <a:xfrm>
            <a:off x="6080760" y="2971800"/>
            <a:ext cx="2651760" cy="1463040"/>
          </a:xfrm>
          <a:prstGeom prst="roundRect">
            <a:avLst>
              <a:gd name="adj" fmla="val 8000"/>
            </a:avLst>
          </a:prstGeom>
          <a:solidFill>
            <a:srgbClr val="FC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Stat 6 text"/>
          <p:cNvSpPr txBox="1"/>
          <p:nvPr/>
        </p:nvSpPr>
        <p:spPr>
          <a:xfrm>
            <a:off x="6263640" y="3108960"/>
            <a:ext cx="2286000" cy="1234440"/>
          </a:xfrm>
          <a:prstGeom prst="rect">
            <a:avLst/>
          </a:prstGeom>
          <a:noFill/>
        </p:spPr>
        <p:txBody>
          <a:bodyPr wrap="square" anchor="t" lIns="0" rIns="0" tIns="0" bIns="0">
            <a:spAutoFit/>
          </a:bodyPr>
          <a:lstStyle/>
          <a:p>
            <a:pPr algn="l">
              <a:spcAft>
                <a:spcPts val="200"/>
              </a:spcAft>
            </a:pPr>
            <a:r>
              <a:rPr sz="2600" b="1">
                <a:solidFill>
                  <a:srgbClr val="D6336C"/>
                </a:solidFill>
                <a:latin typeface="Arial"/>
              </a:rPr>
              <a:t>5.2 s</a:t>
            </a:r>
          </a:p>
          <a:p>
            <a:pPr algn="l">
              <a:spcAft>
                <a:spcPts val="400"/>
              </a:spcAft>
            </a:pPr>
            <a:r>
              <a:rPr sz="1100" b="0">
                <a:solidFill>
                  <a:srgbClr val="1F2540"/>
                </a:solidFill>
                <a:latin typeface="Arial"/>
              </a:rPr>
              <a:t>one observed live run: Stop ends a scan</a:t>
            </a:r>
          </a:p>
        </p:txBody>
      </p:sp>
      <p:sp>
        <p:nvSpPr>
          <p:cNvPr id="156" name="Stats source"/>
          <p:cNvSpPr txBox="1"/>
          <p:nvPr/>
        </p:nvSpPr>
        <p:spPr>
          <a:xfrm>
            <a:off x="411480" y="4663440"/>
            <a:ext cx="8321040" cy="320040"/>
          </a:xfrm>
          <a:prstGeom prst="rect">
            <a:avLst/>
          </a:prstGeom>
          <a:noFill/>
        </p:spPr>
        <p:txBody>
          <a:bodyPr wrap="square" anchor="t" lIns="0" rIns="0" tIns="0" bIns="0">
            <a:spAutoFit/>
          </a:bodyPr>
          <a:lstStyle/>
          <a:p>
            <a:pPr algn="l">
              <a:spcAft>
                <a:spcPts val="400"/>
              </a:spcAft>
            </a:pPr>
            <a:r>
              <a:rPr sz="1000" b="0">
                <a:solidFill>
                  <a:srgbClr val="5B6178"/>
                </a:solidFill>
                <a:latin typeface="Arial"/>
              </a:rPr>
              <a:t>Scores and the stress test: the repository's automatic tests. Timings: single observed runs on the live app, 17–18 October 2026.</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pic>
        <p:nvPicPr>
          <p:cNvPr id="152" name="Privacy screenshot" descr="privacy.png"/>
          <p:cNvPicPr>
            <a:picLocks noChangeAspect="1"/>
          </p:cNvPicPr>
          <p:nvPr/>
        </p:nvPicPr>
        <p:blipFill>
          <a:blip r:embed="rId5"/>
          <a:stretch>
            <a:fillRect/>
          </a:stretch>
        </p:blipFill>
        <p:spPr>
          <a:xfrm>
            <a:off x="411480" y="1325880"/>
            <a:ext cx="4023360" cy="2402840"/>
          </a:xfrm>
          <a:prstGeom prst="rect">
            <a:avLst/>
          </a:prstGeom>
          <a:ln w="9525">
            <a:solidFill>
              <a:srgbClr val="D9DBE4"/>
            </a:solidFill>
          </a:ln>
        </p:spPr>
      </p:pic>
      <p:sp>
        <p:nvSpPr>
          <p:cNvPr id="153" name="Privacy caption"/>
          <p:cNvSpPr txBox="1"/>
          <p:nvPr/>
        </p:nvSpPr>
        <p:spPr>
          <a:xfrm>
            <a:off x="411480" y="3801872"/>
            <a:ext cx="4023360" cy="731520"/>
          </a:xfrm>
          <a:prstGeom prst="rect">
            <a:avLst/>
          </a:prstGeom>
          <a:noFill/>
        </p:spPr>
        <p:txBody>
          <a:bodyPr wrap="square" anchor="t" lIns="0" rIns="0" tIns="0" bIns="0">
            <a:spAutoFit/>
          </a:bodyPr>
          <a:lstStyle/>
          <a:p>
            <a:pPr algn="l">
              <a:spcAft>
                <a:spcPts val="400"/>
              </a:spcAft>
            </a:pPr>
            <a:r>
              <a:rPr sz="1000" b="0">
                <a:solidFill>
                  <a:srgbClr val="5B6178"/>
                </a:solidFill>
                <a:latin typeface="Arial"/>
              </a:rPr>
              <a:t>Trust today: no photo library kept, a plain list of what is kept, a public privacy policy, and "Delete this album's data".</a:t>
            </a:r>
          </a:p>
        </p:txBody>
      </p:sp>
      <p:sp>
        <p:nvSpPr>
          <p:cNvPr id="154" name="Future text"/>
          <p:cNvSpPr txBox="1"/>
          <p:nvPr/>
        </p:nvSpPr>
        <p:spPr>
          <a:xfrm>
            <a:off x="4754880" y="1325880"/>
            <a:ext cx="4023360" cy="3566160"/>
          </a:xfrm>
          <a:prstGeom prst="rect">
            <a:avLst/>
          </a:prstGeom>
          <a:noFill/>
        </p:spPr>
        <p:txBody>
          <a:bodyPr wrap="square" anchor="t" lIns="0" rIns="0" tIns="0" bIns="0">
            <a:spAutoFit/>
          </a:bodyPr>
          <a:lstStyle/>
          <a:p>
            <a:pPr algn="l">
              <a:spcAft>
                <a:spcPts val="800"/>
              </a:spcAft>
            </a:pPr>
            <a:r>
              <a:rPr sz="1400" b="1">
                <a:solidFill>
                  <a:srgbClr val="D6336C"/>
                </a:solidFill>
                <a:latin typeface="Arial"/>
              </a:rPr>
              <a:t>Next steps</a:t>
            </a:r>
          </a:p>
          <a:p>
            <a:pPr algn="l" marL="164592" indent="-146304">
              <a:spcAft>
                <a:spcPts val="800"/>
              </a:spcAft>
              <a:buChar char="•"/>
            </a:pPr>
            <a:r>
              <a:rPr sz="1300" b="1">
                <a:solidFill>
                  <a:srgbClr val="1F2540"/>
                </a:solidFill>
                <a:latin typeface="Arial"/>
              </a:rPr>
              <a:t>Scale: </a:t>
            </a:r>
            <a:r>
              <a:rPr sz="1300" b="0">
                <a:solidFill>
                  <a:srgbClr val="1F2540"/>
                </a:solidFill>
                <a:latin typeface="Arial"/>
              </a:rPr>
              <a:t>persist job progress in Firestore, then run scans on Cloud Run jobs or Cloud Tasks.</a:t>
            </a:r>
          </a:p>
          <a:p>
            <a:pPr algn="l" marL="164592" indent="-146304">
              <a:spcAft>
                <a:spcPts val="800"/>
              </a:spcAft>
              <a:buChar char="•"/>
            </a:pPr>
            <a:r>
              <a:rPr sz="1300" b="1">
                <a:solidFill>
                  <a:srgbClr val="1F2540"/>
                </a:solidFill>
                <a:latin typeface="Arial"/>
              </a:rPr>
              <a:t>Guest mode: </a:t>
            </a:r>
            <a:r>
              <a:rPr sz="1300" b="0">
                <a:solidFill>
                  <a:srgbClr val="1F2540"/>
                </a:solidFill>
                <a:latin typeface="Arial"/>
              </a:rPr>
              <a:t>a QR code at the event; each guest finds their own photos.</a:t>
            </a:r>
          </a:p>
          <a:p>
            <a:pPr algn="l" marL="164592" indent="-146304">
              <a:spcAft>
                <a:spcPts val="800"/>
              </a:spcAft>
              <a:buChar char="•"/>
            </a:pPr>
            <a:r>
              <a:rPr sz="1300" b="1">
                <a:solidFill>
                  <a:srgbClr val="1F2540"/>
                </a:solidFill>
                <a:latin typeface="Arial"/>
              </a:rPr>
              <a:t>Commercial use: </a:t>
            </a:r>
            <a:r>
              <a:rPr sz="1300" b="0">
                <a:solidFill>
                  <a:srgbClr val="1F2540"/>
                </a:solidFill>
                <a:latin typeface="Arial"/>
              </a:rPr>
              <a:t>a commercially licensed face model.</a:t>
            </a:r>
          </a:p>
          <a:p>
            <a:pPr algn="l" marL="164592" indent="-146304">
              <a:spcAft>
                <a:spcPts val="400"/>
              </a:spcAft>
              <a:buChar char="•"/>
            </a:pPr>
            <a:r>
              <a:rPr sz="1300" b="1">
                <a:solidFill>
                  <a:srgbClr val="1F2540"/>
                </a:solidFill>
                <a:latin typeface="Arial"/>
              </a:rPr>
              <a:t>Google verification: </a:t>
            </a:r>
            <a:r>
              <a:rPr sz="1300" b="0">
                <a:solidFill>
                  <a:srgbClr val="1F2540"/>
                </a:solidFill>
                <a:latin typeface="Arial"/>
              </a:rPr>
              <a:t>no more "unverified app" warning.</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82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a:t>
            </a:r>
            <a:endParaRPr>
              <a:latin typeface="Google Sans Flex Medium"/>
              <a:ea typeface="Google Sans Flex Medium"/>
              <a:cs typeface="Google Sans Flex Medium"/>
              <a:sym typeface="Google Sans Flex Medium"/>
            </a:endParaRPr>
            <a:r>
              <a:rPr lang="en-GB">
                <a:solidFill>
                  <a:srgbClr val="1F2540"/>
                </a:solidFill>
                <a:latin typeface="Google Sans Flex Medium"/>
                <a:ea typeface="Google Sans Flex Medium"/>
                <a:cs typeface="Google Sans Flex Medium"/>
                <a:sym typeface="Google Sans Flex Medium"/>
              </a:rPr>
              <a:t>: </a:t>
            </a:r>
            <a:r>
              <a:rPr lang="en-GB">
                <a:solidFill>
                  <a:srgbClr val="1F2540"/>
                </a:solidFill>
                <a:latin typeface="Google Sans Flex Medium"/>
                <a:ea typeface="Google Sans Flex Medium"/>
                <a:cs typeface="Google Sans Flex Medium"/>
                <a:sym typeface="Google Sans Flex Medium"/>
                <a:hlinkClick r:id="rId5"/>
              </a:rPr>
              <a:t>https://github.com/Khunapat/facefinder</a:t>
            </a: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to 4 minutes)</a:t>
            </a:r>
            <a:endParaRPr>
              <a:latin typeface="Google Sans Flex Medium"/>
              <a:ea typeface="Google Sans Flex Medium"/>
              <a:cs typeface="Google Sans Flex Medium"/>
              <a:sym typeface="Google Sans Flex Medium"/>
            </a:endParaRPr>
            <a:r>
              <a:rPr lang="en-GB">
                <a:solidFill>
                  <a:srgbClr val="1F2540"/>
                </a:solidFill>
                <a:latin typeface="Google Sans Flex Medium"/>
                <a:ea typeface="Google Sans Flex Medium"/>
                <a:cs typeface="Google Sans Flex Medium"/>
                <a:sym typeface="Google Sans Flex Medium"/>
              </a:rPr>
              <a:t>: </a:t>
            </a:r>
            <a:r>
              <a:rPr lang="en-GB">
                <a:solidFill>
                  <a:srgbClr val="1F2540"/>
                </a:solidFill>
                <a:latin typeface="Google Sans Flex Medium"/>
                <a:ea typeface="Google Sans Flex Medium"/>
                <a:cs typeface="Google Sans Flex Medium"/>
                <a:sym typeface="Google Sans Flex Medium"/>
                <a:hlinkClick r:id="rId6"/>
              </a:rPr>
              <a:t>https://youtu.be/1NW303-InI0</a:t>
            </a: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a:t>
            </a:r>
            <a:endParaRPr>
              <a:latin typeface="Google Sans Flex Medium"/>
              <a:ea typeface="Google Sans Flex Medium"/>
              <a:cs typeface="Google Sans Flex Medium"/>
              <a:sym typeface="Google Sans Flex Medium"/>
            </a:endParaRPr>
            <a:r>
              <a:rPr lang="en-GB">
                <a:solidFill>
                  <a:srgbClr val="1F2540"/>
                </a:solidFill>
                <a:latin typeface="Google Sans Flex Medium"/>
                <a:ea typeface="Google Sans Flex Medium"/>
                <a:cs typeface="Google Sans Flex Medium"/>
                <a:sym typeface="Google Sans Flex Medium"/>
              </a:rPr>
              <a:t>: </a:t>
            </a:r>
            <a:r>
              <a:rPr lang="en-GB">
                <a:solidFill>
                  <a:srgbClr val="1F2540"/>
                </a:solidFill>
                <a:latin typeface="Google Sans Flex Medium"/>
                <a:ea typeface="Google Sans Flex Medium"/>
                <a:cs typeface="Google Sans Flex Medium"/>
                <a:sym typeface="Google Sans Flex Medium"/>
                <a:hlinkClick r:id="rId7"/>
              </a:rPr>
              <a:t>https://facefinder-508213.web.app</a:t>
            </a: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160" name="Judge note"/>
          <p:cNvSpPr txBox="1"/>
          <p:nvPr/>
        </p:nvSpPr>
        <p:spPr>
          <a:xfrm>
            <a:off x="411480" y="2240280"/>
            <a:ext cx="8321040" cy="1371600"/>
          </a:xfrm>
          <a:prstGeom prst="rect">
            <a:avLst/>
          </a:prstGeom>
          <a:noFill/>
        </p:spPr>
        <p:txBody>
          <a:bodyPr wrap="square" anchor="t" lIns="0" rIns="0" tIns="0" bIns="0">
            <a:spAutoFit/>
          </a:bodyPr>
          <a:lstStyle/>
          <a:p>
            <a:pPr algn="l">
              <a:spcAft>
                <a:spcPts val="400"/>
              </a:spcAft>
            </a:pPr>
            <a:r>
              <a:rPr sz="1300" b="1">
                <a:solidFill>
                  <a:srgbClr val="D6336C"/>
                </a:solidFill>
                <a:latin typeface="Arial"/>
              </a:rPr>
              <a:t>For judges</a:t>
            </a:r>
          </a:p>
          <a:p>
            <a:pPr algn="l">
              <a:spcAft>
                <a:spcPts val="400"/>
              </a:spcAft>
            </a:pPr>
            <a:r>
              <a:rPr sz="1200" b="0">
                <a:solidFill>
                  <a:srgbClr val="1F2540"/>
                </a:solidFill>
                <a:latin typeface="Arial"/>
              </a:rPr>
              <a:t>Open the app and sign in with Google. Google may show "Google hasn't verified this app": press Advanced, then Go to facefinder. Open the Sample album card (made-up people created with Gemini) and try Everyone, Find people, Sort and Cull photos.</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